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AD8D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5000" b="500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2500" y="1503015"/>
            <a:ext cx="704850" cy="70485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866900" y="1588740"/>
            <a:ext cx="279606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TripGuardian</a:t>
            </a:r>
            <a:endParaRPr lang="en-US" sz="3300" dirty="0"/>
          </a:p>
        </p:txBody>
      </p:sp>
      <p:sp>
        <p:nvSpPr>
          <p:cNvPr id="7" name="Text 2"/>
          <p:cNvSpPr/>
          <p:nvPr/>
        </p:nvSpPr>
        <p:spPr>
          <a:xfrm>
            <a:off x="952500" y="2207865"/>
            <a:ext cx="8437245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INTELLIGENCE · ĐÀ LẠT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952500" y="2703909"/>
            <a:ext cx="8142923" cy="3098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800" b="1" dirty="0">
                <a:solidFill>
                  <a:srgbClr val="382B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Chọn đúng nơi</a:t>
            </a:r>
            <a:endParaRPr lang="en-US" sz="78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7800" b="1" dirty="0">
                <a:solidFill>
                  <a:srgbClr val="382B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trước khi xếp lịch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952500" y="6012210"/>
            <a:ext cx="7456170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i="1" dirty="0">
                <a:solidFill>
                  <a:srgbClr val="75445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Từ hàng nghìn gợi ý rời rạc đến một chuyến đi có thể giải thích và kiểm tra.</a:t>
            </a:r>
            <a:endParaRPr lang="en-US" sz="3300" dirty="0"/>
          </a:p>
        </p:txBody>
      </p:sp>
      <p:sp>
        <p:nvSpPr>
          <p:cNvPr id="10" name="Text 5"/>
          <p:cNvSpPr/>
          <p:nvPr/>
        </p:nvSpPr>
        <p:spPr>
          <a:xfrm>
            <a:off x="952500" y="8555385"/>
            <a:ext cx="14358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8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Pitching deck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2483644" y="8679210"/>
            <a:ext cx="400050" cy="19050"/>
          </a:xfrm>
          <a:prstGeom prst="rect">
            <a:avLst/>
          </a:prstGeom>
          <a:solidFill>
            <a:srgbClr val="A83F67"/>
          </a:solidFill>
          <a:ln/>
        </p:spPr>
      </p:sp>
      <p:sp>
        <p:nvSpPr>
          <p:cNvPr id="12" name="Text 7"/>
          <p:cNvSpPr/>
          <p:nvPr/>
        </p:nvSpPr>
        <p:spPr>
          <a:xfrm>
            <a:off x="3055144" y="8555385"/>
            <a:ext cx="83894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8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phút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3989338" y="8679210"/>
            <a:ext cx="400050" cy="19050"/>
          </a:xfrm>
          <a:prstGeom prst="rect">
            <a:avLst/>
          </a:prstGeom>
          <a:solidFill>
            <a:srgbClr val="A83F67"/>
          </a:solidFill>
          <a:ln/>
        </p:spPr>
      </p:sp>
      <p:sp>
        <p:nvSpPr>
          <p:cNvPr id="14" name="Text 9"/>
          <p:cNvSpPr/>
          <p:nvPr/>
        </p:nvSpPr>
        <p:spPr>
          <a:xfrm>
            <a:off x="4560838" y="8555385"/>
            <a:ext cx="5847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8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VẤN ĐỀ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Nhiều gợi ý hơn không làm chuyến đi dễ quyết định hơn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52500" y="3069878"/>
            <a:ext cx="12557760" cy="16722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300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Người đi du lịch không thiếu gợi ý. Họ thiếu một cách để biết </a:t>
            </a:r>
            <a:pPr algn="l" indent="0" marL="0">
              <a:lnSpc>
                <a:spcPct val="130000"/>
              </a:lnSpc>
              <a:buNone/>
            </a:pPr>
            <a:r>
              <a:rPr lang="en-US" sz="3300" i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nơi nào phù hợp </a:t>
            </a:r>
            <a:pPr algn="l" indent="0" marL="0">
              <a:lnSpc>
                <a:spcPct val="130000"/>
              </a:lnSpc>
              <a:buNone/>
            </a:pPr>
            <a:r>
              <a:rPr lang="en-US" sz="3300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và </a:t>
            </a:r>
            <a:pPr algn="l" indent="0" marL="0">
              <a:lnSpc>
                <a:spcPct val="130000"/>
              </a:lnSpc>
              <a:buNone/>
            </a:pPr>
            <a:r>
              <a:rPr lang="en-US" sz="3300" i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các lựa chọn có thực sự đi cùng nhau được không </a:t>
            </a:r>
            <a:pPr algn="l" indent="0" marL="0">
              <a:lnSpc>
                <a:spcPct val="130000"/>
              </a:lnSpc>
              <a:buNone/>
            </a:pPr>
            <a:r>
              <a:rPr lang="en-US" sz="3300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" y="5199311"/>
            <a:ext cx="5194250" cy="47625"/>
          </a:xfrm>
          <a:prstGeom prst="rect">
            <a:avLst/>
          </a:prstGeom>
          <a:solidFill>
            <a:srgbClr val="A83F67"/>
          </a:solidFill>
          <a:ln/>
        </p:spPr>
      </p:sp>
      <p:sp>
        <p:nvSpPr>
          <p:cNvPr id="7" name="Text 5"/>
          <p:cNvSpPr/>
          <p:nvPr/>
        </p:nvSpPr>
        <p:spPr>
          <a:xfrm>
            <a:off x="952500" y="5570786"/>
            <a:ext cx="53500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500" y="6094661"/>
            <a:ext cx="5350078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Thông tin rời rạc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952500" y="6748016"/>
            <a:ext cx="5350078" cy="903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4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Giờ mở cửa, vị trí, review và video nằm ở nhiều nguồn khác nhau.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46800" y="5199311"/>
            <a:ext cx="5194250" cy="47625"/>
          </a:xfrm>
          <a:prstGeom prst="rect">
            <a:avLst/>
          </a:prstGeom>
          <a:solidFill>
            <a:srgbClr val="D58A16"/>
          </a:solidFill>
          <a:ln/>
        </p:spPr>
      </p:sp>
      <p:sp>
        <p:nvSpPr>
          <p:cNvPr id="11" name="Text 9"/>
          <p:cNvSpPr/>
          <p:nvPr/>
        </p:nvSpPr>
        <p:spPr>
          <a:xfrm>
            <a:off x="6546800" y="5570786"/>
            <a:ext cx="53500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46800" y="6094661"/>
            <a:ext cx="5350078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Đánh đổi khó thấy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546800" y="6748016"/>
            <a:ext cx="5350078" cy="13364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4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nơi đẹp có thể xa, đông, tốn thời gian hoặc không hợp người đồng hành.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2141101" y="5199311"/>
            <a:ext cx="5194250" cy="47625"/>
          </a:xfrm>
          <a:prstGeom prst="rect">
            <a:avLst/>
          </a:prstGeom>
          <a:solidFill>
            <a:srgbClr val="0F6B5C"/>
          </a:solidFill>
          <a:ln/>
        </p:spPr>
      </p:sp>
      <p:sp>
        <p:nvSpPr>
          <p:cNvPr id="15" name="Text 13"/>
          <p:cNvSpPr/>
          <p:nvPr/>
        </p:nvSpPr>
        <p:spPr>
          <a:xfrm>
            <a:off x="12141101" y="5570786"/>
            <a:ext cx="53500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141101" y="6094661"/>
            <a:ext cx="5350078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Tổ hợp bất khả thi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2141101" y="6748016"/>
            <a:ext cx="5350078" cy="13364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4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nơi đều hợp lý nhưng ghép lại có thể vượt quỹ thời gian, ngân sách hoặc sức lực.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E7E8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BỐI CẢNH VIỆT NAM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Người Việt đang tự nối mạng xã hội, Maps và review bằng tay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4123879"/>
            <a:ext cx="3996630" cy="2068711"/>
          </a:xfrm>
          <a:prstGeom prst="roundRect">
            <a:avLst>
              <a:gd name="adj" fmla="val 10129"/>
            </a:avLst>
          </a:prstGeom>
          <a:solidFill>
            <a:srgbClr val="FFFFFF">
              <a:alpha val="68000"/>
            </a:srgbClr>
          </a:solidFill>
          <a:ln w="9525">
            <a:solidFill>
              <a:srgbClr val="CFC7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4419154"/>
            <a:ext cx="3508263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53%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1247775" y="5266879"/>
            <a:ext cx="3167493" cy="615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mạng xã hội để tìm điểm đến mới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96780" y="4123879"/>
            <a:ext cx="3996630" cy="2068711"/>
          </a:xfrm>
          <a:prstGeom prst="roundRect">
            <a:avLst>
              <a:gd name="adj" fmla="val 10129"/>
            </a:avLst>
          </a:prstGeom>
          <a:solidFill>
            <a:srgbClr val="FFFFFF">
              <a:alpha val="68000"/>
            </a:srgbClr>
          </a:solidFill>
          <a:ln w="9525">
            <a:solidFill>
              <a:srgbClr val="CFC7B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92055" y="4419154"/>
            <a:ext cx="3508263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47%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5492055" y="5266879"/>
            <a:ext cx="3495233" cy="615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mạng xã hội trong giai đoạn lập kế hoạch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" y="6440239"/>
            <a:ext cx="3996630" cy="2068711"/>
          </a:xfrm>
          <a:prstGeom prst="roundRect">
            <a:avLst>
              <a:gd name="adj" fmla="val 10129"/>
            </a:avLst>
          </a:prstGeom>
          <a:solidFill>
            <a:srgbClr val="FFFFFF">
              <a:alpha val="68000"/>
            </a:srgbClr>
          </a:solidFill>
          <a:ln w="9525">
            <a:solidFill>
              <a:srgbClr val="CFC7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7775" y="6735514"/>
            <a:ext cx="3508263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35%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1247775" y="7583239"/>
            <a:ext cx="3312048" cy="615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nền tảng du lịch khi lập kế hoạch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196780" y="6440239"/>
            <a:ext cx="3996630" cy="2068711"/>
          </a:xfrm>
          <a:prstGeom prst="roundRect">
            <a:avLst>
              <a:gd name="adj" fmla="val 10129"/>
            </a:avLst>
          </a:prstGeom>
          <a:solidFill>
            <a:srgbClr val="FFFFFF">
              <a:alpha val="68000"/>
            </a:srgbClr>
          </a:solidFill>
          <a:ln w="9525">
            <a:solidFill>
              <a:srgbClr val="CFC7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92055" y="6735514"/>
            <a:ext cx="3508263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32%</a:t>
            </a:r>
            <a:endParaRPr lang="en-US" sz="4350" dirty="0"/>
          </a:p>
        </p:txBody>
      </p:sp>
      <p:sp>
        <p:nvSpPr>
          <p:cNvPr id="16" name="Text 14"/>
          <p:cNvSpPr/>
          <p:nvPr/>
        </p:nvSpPr>
        <p:spPr>
          <a:xfrm>
            <a:off x="5492055" y="7583239"/>
            <a:ext cx="3420273" cy="6152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Maps, Waze hoặc Grab khi lập kế hoạch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879211" y="4735264"/>
            <a:ext cx="2667000" cy="6477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7811" y="4925764"/>
            <a:ext cx="228981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Mạng xã hội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679561" y="4782889"/>
            <a:ext cx="7620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300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3574911" y="4925764"/>
            <a:ext cx="3873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Khám phá cảm hứng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879211" y="5573464"/>
            <a:ext cx="2667000" cy="6477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107811" y="5763964"/>
            <a:ext cx="228981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Maps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679561" y="5621089"/>
            <a:ext cx="7620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300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3574911" y="5763964"/>
            <a:ext cx="3873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 và vận hành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879211" y="6411664"/>
            <a:ext cx="2667000" cy="6477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0107811" y="6602164"/>
            <a:ext cx="228981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679561" y="6459289"/>
            <a:ext cx="7620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300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13574911" y="6602164"/>
            <a:ext cx="3873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Trải nghiệm thực tế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79211" y="7249864"/>
            <a:ext cx="2667000" cy="6477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107811" y="7440364"/>
            <a:ext cx="228981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dùng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679561" y="7297489"/>
            <a:ext cx="7620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300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3300" dirty="0"/>
          </a:p>
        </p:txBody>
      </p:sp>
      <p:sp>
        <p:nvSpPr>
          <p:cNvPr id="32" name="Text 30"/>
          <p:cNvSpPr/>
          <p:nvPr/>
        </p:nvSpPr>
        <p:spPr>
          <a:xfrm>
            <a:off x="13574911" y="7440364"/>
            <a:ext cx="387325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ghép thành quyết định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420546" y="9638556"/>
            <a:ext cx="9182402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Nguồn: Traveloka × YouGov, APAC Travel Trends 2024 · gần 12.000 người, 9 thị trường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KHOẢNG TRỐNG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Các công cụ hiện tại dừng ở tìm kiếm hoặc sinh lịch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2411611"/>
            <a:ext cx="16383000" cy="7151489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CFC7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7051" y="2421136"/>
            <a:ext cx="9525" cy="7132439"/>
          </a:xfrm>
          <a:prstGeom prst="rect">
            <a:avLst/>
          </a:prstGeom>
          <a:solidFill>
            <a:srgbClr val="CFC7BC"/>
          </a:solidFill>
          <a:ln/>
        </p:spPr>
      </p:sp>
      <p:sp>
        <p:nvSpPr>
          <p:cNvPr id="7" name="Shape 5"/>
          <p:cNvSpPr/>
          <p:nvPr/>
        </p:nvSpPr>
        <p:spPr>
          <a:xfrm>
            <a:off x="1323975" y="2821186"/>
            <a:ext cx="1257746" cy="419100"/>
          </a:xfrm>
          <a:prstGeom prst="roundRect">
            <a:avLst>
              <a:gd name="adj" fmla="val 50000"/>
            </a:avLst>
          </a:prstGeom>
          <a:solidFill>
            <a:srgbClr val="F1ECE4"/>
          </a:solidFill>
          <a:ln/>
        </p:spPr>
      </p:sp>
      <p:sp>
        <p:nvSpPr>
          <p:cNvPr id="8" name="Text 6"/>
          <p:cNvSpPr/>
          <p:nvPr/>
        </p:nvSpPr>
        <p:spPr>
          <a:xfrm>
            <a:off x="1457325" y="2897386"/>
            <a:ext cx="106724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kiếm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3975" y="3506986"/>
            <a:ext cx="4862760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Thêm lựa chọn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403985" y="4427041"/>
            <a:ext cx="4717316" cy="1516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kết quả hơn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dùng tự đối chiếu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kiểm tra tổ hợp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23975" y="8600331"/>
            <a:ext cx="486276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Giỏi khám phá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861750" y="2421136"/>
            <a:ext cx="9525" cy="7132439"/>
          </a:xfrm>
          <a:prstGeom prst="rect">
            <a:avLst/>
          </a:prstGeom>
          <a:solidFill>
            <a:srgbClr val="CFC7BC"/>
          </a:solidFill>
          <a:ln/>
        </p:spPr>
      </p:sp>
      <p:sp>
        <p:nvSpPr>
          <p:cNvPr id="13" name="Shape 11"/>
          <p:cNvSpPr/>
          <p:nvPr/>
        </p:nvSpPr>
        <p:spPr>
          <a:xfrm>
            <a:off x="6778526" y="2821186"/>
            <a:ext cx="1930301" cy="419100"/>
          </a:xfrm>
          <a:prstGeom prst="roundRect">
            <a:avLst>
              <a:gd name="adj" fmla="val 50000"/>
            </a:avLst>
          </a:prstGeom>
          <a:solidFill>
            <a:srgbClr val="F1ECE4"/>
          </a:solidFill>
          <a:ln/>
        </p:spPr>
      </p:sp>
      <p:sp>
        <p:nvSpPr>
          <p:cNvPr id="14" name="Text 12"/>
          <p:cNvSpPr/>
          <p:nvPr/>
        </p:nvSpPr>
        <p:spPr>
          <a:xfrm>
            <a:off x="6911876" y="2897386"/>
            <a:ext cx="173980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du lịch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778526" y="3506986"/>
            <a:ext cx="4862913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Sinh một lịch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6858536" y="4427041"/>
            <a:ext cx="4717465" cy="1895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nhanh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Khó truy nguồn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thể nghe hợp lý nhưng không khả thi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778526" y="8600331"/>
            <a:ext cx="4862913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Giỏi soạn thảo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871275" y="2421136"/>
            <a:ext cx="5454700" cy="7132439"/>
          </a:xfrm>
          <a:prstGeom prst="rect">
            <a:avLst/>
          </a:prstGeom>
          <a:solidFill>
            <a:srgbClr val="0F6B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2233225" y="2821186"/>
            <a:ext cx="1689348" cy="4191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2366575" y="2897386"/>
            <a:ext cx="149884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TripGuardian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233225" y="3506986"/>
            <a:ext cx="4872724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Hỗ trợ quyết định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2313235" y="4427041"/>
            <a:ext cx="4726990" cy="1516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trước recommendation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trước tối ưu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dùng chốt cuối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2233225" y="8600331"/>
            <a:ext cx="4872724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dirty="0">
                <a:solidFill>
                  <a:srgbClr val="CBE8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trước · xếp lịch sau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83F39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A8DE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GIÁ TRỊ CỐT LÕI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FFFDF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TripGuardian biến ý định thành quyết định có kiểm chứng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4193828"/>
            <a:ext cx="14097000" cy="952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3412778"/>
            <a:ext cx="8191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2C9D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266950" y="3437483"/>
            <a:ext cx="12871704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FFFDF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Nơi nào phù hợp với chuyến đi này?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52500" y="5422553"/>
            <a:ext cx="14097000" cy="952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4641503"/>
            <a:ext cx="8191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2C9D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266950" y="4666208"/>
            <a:ext cx="12871704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FFFDF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Vì sao chọn nơi này thay vì lựa chọn khác?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952500" y="6651278"/>
            <a:ext cx="14097000" cy="952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238250" y="5870228"/>
            <a:ext cx="8191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2C9D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266950" y="5894933"/>
            <a:ext cx="12871704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FFFDF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Các nơi đã chọn có thực sự đi cùng nhau được không?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459641" y="9638556"/>
            <a:ext cx="7082135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dirty="0">
                <a:solidFill>
                  <a:srgbClr val="B7CE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TripGuardian là trợ lý ra quyết định — không phải máy tạo lịch trình.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7CE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TRẢI NGHIỆM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Một hành trình: hiểu → chọn → kiểm tra → xếp lịch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3069878"/>
            <a:ext cx="7097911" cy="6493222"/>
          </a:xfrm>
          <a:prstGeom prst="roundRect">
            <a:avLst>
              <a:gd name="adj" fmla="val 4107"/>
            </a:avLst>
          </a:prstGeom>
          <a:solidFill>
            <a:srgbClr val="083F39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3488978"/>
            <a:ext cx="6447502" cy="1722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“3 ngày ở Đà Lạt cho hai người, đi xe máy, thích chill, cà phê, săn mây.”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1371600" y="5516463"/>
            <a:ext cx="419100" cy="419100"/>
          </a:xfrm>
          <a:prstGeom prst="ellipse">
            <a:avLst/>
          </a:prstGeom>
          <a:solidFill>
            <a:srgbClr val="F2CED8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5516463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019300" y="5573613"/>
            <a:ext cx="578037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constraint và preference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371600" y="6068913"/>
            <a:ext cx="419100" cy="419100"/>
          </a:xfrm>
          <a:prstGeom prst="ellipse">
            <a:avLst/>
          </a:prstGeom>
          <a:solidFill>
            <a:srgbClr val="F2CED8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6068913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19300" y="6126063"/>
            <a:ext cx="578037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và tuyển chọn địa điểm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71600" y="6621363"/>
            <a:ext cx="419100" cy="419100"/>
          </a:xfrm>
          <a:prstGeom prst="ellipse">
            <a:avLst/>
          </a:prstGeom>
          <a:solidFill>
            <a:srgbClr val="F2CED8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6621363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19300" y="6678513"/>
            <a:ext cx="578037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tra tổ hợp đã chọn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371600" y="7173813"/>
            <a:ext cx="419100" cy="419100"/>
          </a:xfrm>
          <a:prstGeom prst="ellipse">
            <a:avLst/>
          </a:prstGeom>
          <a:solidFill>
            <a:srgbClr val="F2CED8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7173813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3F6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019300" y="7230963"/>
            <a:ext cx="578037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lịch và đưa phương án dự phòng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8660011" y="3069878"/>
            <a:ext cx="8675489" cy="638175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CFC7BC"/>
            </a:solidFill>
            <a:prstDash val="solid"/>
          </a:ln>
          <a:effectLst>
            <a:outerShdw sx="100000" sy="100000" kx="0" ky="0" algn="bl" rotWithShape="0" blurRad="666750" dist="247650" dir="5400000">
              <a:srgbClr val="26302F">
                <a:alpha val="12000"/>
              </a:srgbClr>
            </a:outerShdw>
          </a:effectLst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8849" b="-8849"/>
          <a:stretch/>
        </p:blipFill>
        <p:spPr>
          <a:xfrm>
            <a:off x="8660011" y="3069878"/>
            <a:ext cx="8675489" cy="638175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CƠ CHẾ QUYẾT ĐỊNH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Luồng quyết định từ mục tiêu đến các phương án đánh đổi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06755" y="9412784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rgbClr val="607276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Cùng dữ liệu đầu vào có thể sinh nhiều phương án đánh đổi — con người quyết định cuối.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095750" y="3869978"/>
            <a:ext cx="714375" cy="38100"/>
          </a:xfrm>
          <a:prstGeom prst="rect">
            <a:avLst/>
          </a:prstGeom>
          <a:solidFill>
            <a:srgbClr val="345F91"/>
          </a:solidFill>
          <a:ln/>
        </p:spPr>
      </p:sp>
      <p:sp>
        <p:nvSpPr>
          <p:cNvPr id="7" name="Shape 5"/>
          <p:cNvSpPr/>
          <p:nvPr/>
        </p:nvSpPr>
        <p:spPr>
          <a:xfrm>
            <a:off x="9667875" y="3869978"/>
            <a:ext cx="857250" cy="38100"/>
          </a:xfrm>
          <a:prstGeom prst="rect">
            <a:avLst/>
          </a:prstGeom>
          <a:solidFill>
            <a:srgbClr val="A83F67"/>
          </a:solidFill>
          <a:ln/>
        </p:spPr>
      </p:sp>
      <p:sp>
        <p:nvSpPr>
          <p:cNvPr id="8" name="Shape 6"/>
          <p:cNvSpPr/>
          <p:nvPr/>
        </p:nvSpPr>
        <p:spPr>
          <a:xfrm rot="8880001">
            <a:off x="9977194" y="5326738"/>
            <a:ext cx="2190750" cy="38100"/>
          </a:xfrm>
          <a:prstGeom prst="rect">
            <a:avLst/>
          </a:prstGeom>
          <a:solidFill>
            <a:srgbClr val="7665B8"/>
          </a:solidFill>
          <a:ln/>
        </p:spPr>
      </p:sp>
      <p:sp>
        <p:nvSpPr>
          <p:cNvPr id="9" name="Shape 7"/>
          <p:cNvSpPr/>
          <p:nvPr/>
        </p:nvSpPr>
        <p:spPr>
          <a:xfrm rot="4079999">
            <a:off x="14046127" y="5329406"/>
            <a:ext cx="1381125" cy="38100"/>
          </a:xfrm>
          <a:prstGeom prst="rect">
            <a:avLst/>
          </a:prstGeom>
          <a:solidFill>
            <a:srgbClr val="D58A16"/>
          </a:solidFill>
          <a:ln/>
        </p:spPr>
      </p:sp>
      <p:sp>
        <p:nvSpPr>
          <p:cNvPr id="10" name="Shape 8"/>
          <p:cNvSpPr/>
          <p:nvPr/>
        </p:nvSpPr>
        <p:spPr>
          <a:xfrm rot="7800002">
            <a:off x="3272617" y="8164864"/>
            <a:ext cx="2857500" cy="38100"/>
          </a:xfrm>
          <a:prstGeom prst="rect">
            <a:avLst/>
          </a:prstGeom>
          <a:solidFill>
            <a:srgbClr val="0F6B5C"/>
          </a:solidFill>
          <a:ln/>
        </p:spPr>
      </p:sp>
      <p:sp>
        <p:nvSpPr>
          <p:cNvPr id="11" name="Shape 9"/>
          <p:cNvSpPr/>
          <p:nvPr/>
        </p:nvSpPr>
        <p:spPr>
          <a:xfrm rot="4200001">
            <a:off x="6550843" y="8189199"/>
            <a:ext cx="2381250" cy="38100"/>
          </a:xfrm>
          <a:prstGeom prst="rect">
            <a:avLst/>
          </a:prstGeom>
          <a:solidFill>
            <a:srgbClr val="345F91"/>
          </a:solidFill>
          <a:ln/>
        </p:spPr>
      </p:sp>
      <p:sp>
        <p:nvSpPr>
          <p:cNvPr id="12" name="Shape 10"/>
          <p:cNvSpPr/>
          <p:nvPr/>
        </p:nvSpPr>
        <p:spPr>
          <a:xfrm rot="2879999">
            <a:off x="10623543" y="8025969"/>
            <a:ext cx="2571750" cy="38100"/>
          </a:xfrm>
          <a:prstGeom prst="rect">
            <a:avLst/>
          </a:prstGeom>
          <a:solidFill>
            <a:srgbClr val="D58A16"/>
          </a:solidFill>
          <a:ln/>
        </p:spPr>
      </p:sp>
      <p:sp>
        <p:nvSpPr>
          <p:cNvPr id="13" name="anim-s7-n0-k0"/>
          <p:cNvSpPr/>
          <p:nvPr/>
        </p:nvSpPr>
        <p:spPr>
          <a:xfrm>
            <a:off x="952500" y="3069878"/>
            <a:ext cx="3143250" cy="2189411"/>
          </a:xfrm>
          <a:prstGeom prst="roundRect">
            <a:avLst>
              <a:gd name="adj" fmla="val 8701"/>
            </a:avLst>
          </a:prstGeom>
          <a:solidFill>
            <a:srgbClr val="E2EAF5"/>
          </a:solidFill>
          <a:ln w="28575">
            <a:solidFill>
              <a:srgbClr val="345F91"/>
            </a:solidFill>
            <a:prstDash val="solid"/>
          </a:ln>
        </p:spPr>
      </p:sp>
      <p:sp>
        <p:nvSpPr>
          <p:cNvPr id="14" name="anim-s7-n0-k1"/>
          <p:cNvSpPr/>
          <p:nvPr/>
        </p:nvSpPr>
        <p:spPr>
          <a:xfrm>
            <a:off x="2352675" y="3250853"/>
            <a:ext cx="1562100" cy="409575"/>
          </a:xfrm>
          <a:prstGeom prst="roundRect">
            <a:avLst>
              <a:gd name="adj" fmla="val 50000"/>
            </a:avLst>
          </a:prstGeom>
          <a:solidFill>
            <a:srgbClr val="345F91"/>
          </a:solidFill>
          <a:ln/>
        </p:spPr>
      </p:sp>
      <p:sp>
        <p:nvSpPr>
          <p:cNvPr id="15" name="anim-s7-n0-k2"/>
          <p:cNvSpPr/>
          <p:nvPr/>
        </p:nvSpPr>
        <p:spPr>
          <a:xfrm>
            <a:off x="2466975" y="3308003"/>
            <a:ext cx="14097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Trip State</a:t>
            </a:r>
            <a:endParaRPr lang="en-US" sz="1800" dirty="0"/>
          </a:p>
        </p:txBody>
      </p:sp>
      <p:sp>
        <p:nvSpPr>
          <p:cNvPr id="16" name="anim-s7-n0-k3"/>
          <p:cNvSpPr/>
          <p:nvPr/>
        </p:nvSpPr>
        <p:spPr>
          <a:xfrm>
            <a:off x="1228725" y="3327053"/>
            <a:ext cx="2668524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Đầu vào chuyến đi</a:t>
            </a:r>
            <a:endParaRPr lang="en-US" sz="2175" dirty="0"/>
          </a:p>
        </p:txBody>
      </p:sp>
      <p:sp>
        <p:nvSpPr>
          <p:cNvPr id="17" name="anim-s7-n0-k4"/>
          <p:cNvSpPr/>
          <p:nvPr/>
        </p:nvSpPr>
        <p:spPr>
          <a:xfrm>
            <a:off x="1228725" y="4076551"/>
            <a:ext cx="2668524" cy="963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 · người đi cùng · phương tiện · budget · hard constraint</a:t>
            </a:r>
            <a:endParaRPr lang="en-US" sz="1800" dirty="0"/>
          </a:p>
        </p:txBody>
      </p:sp>
      <p:sp>
        <p:nvSpPr>
          <p:cNvPr id="18" name="anim-s7-n1-k0"/>
          <p:cNvSpPr/>
          <p:nvPr/>
        </p:nvSpPr>
        <p:spPr>
          <a:xfrm>
            <a:off x="4810125" y="3069878"/>
            <a:ext cx="4857750" cy="1563291"/>
          </a:xfrm>
          <a:prstGeom prst="roundRect">
            <a:avLst>
              <a:gd name="adj" fmla="val 12186"/>
            </a:avLst>
          </a:prstGeom>
          <a:solidFill>
            <a:srgbClr val="E5F1ED"/>
          </a:solidFill>
          <a:ln w="28575">
            <a:solidFill>
              <a:srgbClr val="0F6B5C"/>
            </a:solidFill>
            <a:prstDash val="solid"/>
          </a:ln>
        </p:spPr>
      </p:sp>
      <p:sp>
        <p:nvSpPr>
          <p:cNvPr id="19" name="anim-s7-n1-k1"/>
          <p:cNvSpPr/>
          <p:nvPr/>
        </p:nvSpPr>
        <p:spPr>
          <a:xfrm>
            <a:off x="8191500" y="3250853"/>
            <a:ext cx="1295400" cy="409575"/>
          </a:xfrm>
          <a:prstGeom prst="roundRect">
            <a:avLst>
              <a:gd name="adj" fmla="val 50000"/>
            </a:avLst>
          </a:prstGeom>
          <a:solidFill>
            <a:srgbClr val="0F6B5C"/>
          </a:solidFill>
          <a:ln/>
        </p:spPr>
      </p:sp>
      <p:sp>
        <p:nvSpPr>
          <p:cNvPr id="20" name="anim-s7-n1-k2"/>
          <p:cNvSpPr/>
          <p:nvPr/>
        </p:nvSpPr>
        <p:spPr>
          <a:xfrm>
            <a:off x="8305800" y="3308003"/>
            <a:ext cx="1143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1" name="anim-s7-n1-k3"/>
          <p:cNvSpPr/>
          <p:nvPr/>
        </p:nvSpPr>
        <p:spPr>
          <a:xfrm>
            <a:off x="5086350" y="3327053"/>
            <a:ext cx="4434459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Place Intelligence</a:t>
            </a:r>
            <a:endParaRPr lang="en-US" sz="2175" dirty="0"/>
          </a:p>
        </p:txBody>
      </p:sp>
      <p:sp>
        <p:nvSpPr>
          <p:cNvPr id="22" name="anim-s7-n1-k4"/>
          <p:cNvSpPr/>
          <p:nvPr/>
        </p:nvSpPr>
        <p:spPr>
          <a:xfrm>
            <a:off x="5086350" y="3758952"/>
            <a:ext cx="4434459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signal · estimate có nguồn và độ tin cậy</a:t>
            </a:r>
            <a:endParaRPr lang="en-US" sz="1800" dirty="0"/>
          </a:p>
        </p:txBody>
      </p:sp>
      <p:sp>
        <p:nvSpPr>
          <p:cNvPr id="23" name="anim-s7-n2-k0"/>
          <p:cNvSpPr/>
          <p:nvPr/>
        </p:nvSpPr>
        <p:spPr>
          <a:xfrm>
            <a:off x="12382500" y="3069878"/>
            <a:ext cx="4953000" cy="1563291"/>
          </a:xfrm>
          <a:prstGeom prst="roundRect">
            <a:avLst>
              <a:gd name="adj" fmla="val 12186"/>
            </a:avLst>
          </a:prstGeom>
          <a:solidFill>
            <a:srgbClr val="F7E8ED"/>
          </a:solidFill>
          <a:ln w="28575">
            <a:solidFill>
              <a:srgbClr val="A83F67"/>
            </a:solidFill>
            <a:prstDash val="solid"/>
          </a:ln>
        </p:spPr>
      </p:sp>
      <p:sp>
        <p:nvSpPr>
          <p:cNvPr id="24" name="anim-s7-n2-k1"/>
          <p:cNvSpPr/>
          <p:nvPr/>
        </p:nvSpPr>
        <p:spPr>
          <a:xfrm>
            <a:off x="15859125" y="3250853"/>
            <a:ext cx="1295400" cy="409575"/>
          </a:xfrm>
          <a:prstGeom prst="roundRect">
            <a:avLst>
              <a:gd name="adj" fmla="val 50000"/>
            </a:avLst>
          </a:prstGeom>
          <a:solidFill>
            <a:srgbClr val="A83F67"/>
          </a:solidFill>
          <a:ln/>
        </p:spPr>
      </p:sp>
      <p:sp>
        <p:nvSpPr>
          <p:cNvPr id="25" name="anim-s7-n2-k2"/>
          <p:cNvSpPr/>
          <p:nvPr/>
        </p:nvSpPr>
        <p:spPr>
          <a:xfrm>
            <a:off x="15973425" y="3308003"/>
            <a:ext cx="1143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Decision</a:t>
            </a:r>
            <a:endParaRPr lang="en-US" sz="1800" dirty="0"/>
          </a:p>
        </p:txBody>
      </p:sp>
      <p:sp>
        <p:nvSpPr>
          <p:cNvPr id="26" name="anim-s7-n2-k3"/>
          <p:cNvSpPr/>
          <p:nvPr/>
        </p:nvSpPr>
        <p:spPr>
          <a:xfrm>
            <a:off x="12658725" y="3327053"/>
            <a:ext cx="4532567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Chọn nơi</a:t>
            </a:r>
            <a:endParaRPr lang="en-US" sz="2175" dirty="0"/>
          </a:p>
        </p:txBody>
      </p:sp>
      <p:sp>
        <p:nvSpPr>
          <p:cNvPr id="27" name="anim-s7-n2-k4"/>
          <p:cNvSpPr/>
          <p:nvPr/>
        </p:nvSpPr>
        <p:spPr>
          <a:xfrm>
            <a:off x="12658725" y="3758952"/>
            <a:ext cx="453256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→ fit → rank → diversify → người dùng tuyển chọn</a:t>
            </a:r>
            <a:endParaRPr lang="en-US" sz="1800" dirty="0"/>
          </a:p>
        </p:txBody>
      </p:sp>
      <p:sp>
        <p:nvSpPr>
          <p:cNvPr id="28" name="anim-s7-n3-k0"/>
          <p:cNvSpPr/>
          <p:nvPr/>
        </p:nvSpPr>
        <p:spPr>
          <a:xfrm>
            <a:off x="3333750" y="5260628"/>
            <a:ext cx="4953000" cy="1563291"/>
          </a:xfrm>
          <a:prstGeom prst="roundRect">
            <a:avLst>
              <a:gd name="adj" fmla="val 12186"/>
            </a:avLst>
          </a:prstGeom>
          <a:solidFill>
            <a:srgbClr val="ECE8F8"/>
          </a:solidFill>
          <a:ln w="28575">
            <a:solidFill>
              <a:srgbClr val="7665B8"/>
            </a:solidFill>
            <a:prstDash val="solid"/>
          </a:ln>
        </p:spPr>
      </p:sp>
      <p:sp>
        <p:nvSpPr>
          <p:cNvPr id="29" name="anim-s7-n3-k1"/>
          <p:cNvSpPr/>
          <p:nvPr/>
        </p:nvSpPr>
        <p:spPr>
          <a:xfrm>
            <a:off x="7477125" y="5441603"/>
            <a:ext cx="628650" cy="409575"/>
          </a:xfrm>
          <a:prstGeom prst="roundRect">
            <a:avLst>
              <a:gd name="adj" fmla="val 50000"/>
            </a:avLst>
          </a:prstGeom>
          <a:solidFill>
            <a:srgbClr val="7665B8"/>
          </a:solidFill>
          <a:ln/>
        </p:spPr>
      </p:sp>
      <p:sp>
        <p:nvSpPr>
          <p:cNvPr id="30" name="anim-s7-n3-k2"/>
          <p:cNvSpPr/>
          <p:nvPr/>
        </p:nvSpPr>
        <p:spPr>
          <a:xfrm>
            <a:off x="7591425" y="5498753"/>
            <a:ext cx="4762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</a:t>
            </a:r>
            <a:endParaRPr lang="en-US" sz="1800" dirty="0"/>
          </a:p>
        </p:txBody>
      </p:sp>
      <p:sp>
        <p:nvSpPr>
          <p:cNvPr id="31" name="anim-s7-n3-k3"/>
          <p:cNvSpPr/>
          <p:nvPr/>
        </p:nvSpPr>
        <p:spPr>
          <a:xfrm>
            <a:off x="3609975" y="5517803"/>
            <a:ext cx="4532567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Giải thích</a:t>
            </a:r>
            <a:endParaRPr lang="en-US" sz="2175" dirty="0"/>
          </a:p>
        </p:txBody>
      </p:sp>
      <p:sp>
        <p:nvSpPr>
          <p:cNvPr id="32" name="anim-s7-n3-k4"/>
          <p:cNvSpPr/>
          <p:nvPr/>
        </p:nvSpPr>
        <p:spPr>
          <a:xfrm>
            <a:off x="3609975" y="5949702"/>
            <a:ext cx="453256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phù hợp · điểm đánh đổi · bằng chứng đứng sau</a:t>
            </a:r>
            <a:endParaRPr lang="en-US" sz="1800" dirty="0"/>
          </a:p>
        </p:txBody>
      </p:sp>
      <p:sp>
        <p:nvSpPr>
          <p:cNvPr id="33" name="anim-s7-n4-k0"/>
          <p:cNvSpPr/>
          <p:nvPr/>
        </p:nvSpPr>
        <p:spPr>
          <a:xfrm>
            <a:off x="10953750" y="5260628"/>
            <a:ext cx="4667250" cy="1563291"/>
          </a:xfrm>
          <a:prstGeom prst="roundRect">
            <a:avLst>
              <a:gd name="adj" fmla="val 12186"/>
            </a:avLst>
          </a:prstGeom>
          <a:solidFill>
            <a:srgbClr val="F5E5C4"/>
          </a:solidFill>
          <a:ln w="28575">
            <a:solidFill>
              <a:srgbClr val="D58A16"/>
            </a:solidFill>
            <a:prstDash val="solid"/>
          </a:ln>
        </p:spPr>
      </p:sp>
      <p:sp>
        <p:nvSpPr>
          <p:cNvPr id="34" name="anim-s7-n4-k1"/>
          <p:cNvSpPr/>
          <p:nvPr/>
        </p:nvSpPr>
        <p:spPr>
          <a:xfrm>
            <a:off x="14277975" y="5441603"/>
            <a:ext cx="1162050" cy="409575"/>
          </a:xfrm>
          <a:prstGeom prst="roundRect">
            <a:avLst>
              <a:gd name="adj" fmla="val 50000"/>
            </a:avLst>
          </a:prstGeom>
          <a:solidFill>
            <a:srgbClr val="D58A16"/>
          </a:solidFill>
          <a:ln/>
        </p:spPr>
      </p:sp>
      <p:sp>
        <p:nvSpPr>
          <p:cNvPr id="35" name="anim-s7-n4-k2"/>
          <p:cNvSpPr/>
          <p:nvPr/>
        </p:nvSpPr>
        <p:spPr>
          <a:xfrm>
            <a:off x="14392275" y="5498753"/>
            <a:ext cx="1009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Unknown</a:t>
            </a:r>
            <a:endParaRPr lang="en-US" sz="1800" dirty="0"/>
          </a:p>
        </p:txBody>
      </p:sp>
      <p:sp>
        <p:nvSpPr>
          <p:cNvPr id="36" name="anim-s7-n4-k3"/>
          <p:cNvSpPr/>
          <p:nvPr/>
        </p:nvSpPr>
        <p:spPr>
          <a:xfrm>
            <a:off x="11229975" y="5517803"/>
            <a:ext cx="4238244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Bất định</a:t>
            </a:r>
            <a:endParaRPr lang="en-US" sz="2175" dirty="0"/>
          </a:p>
        </p:txBody>
      </p:sp>
      <p:sp>
        <p:nvSpPr>
          <p:cNvPr id="37" name="anim-s7-n4-k4"/>
          <p:cNvSpPr/>
          <p:nvPr/>
        </p:nvSpPr>
        <p:spPr>
          <a:xfrm>
            <a:off x="11229975" y="5949702"/>
            <a:ext cx="4238244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xác minh · đã quá hạn · xung đột nguồn</a:t>
            </a:r>
            <a:endParaRPr lang="en-US" sz="1800" dirty="0"/>
          </a:p>
        </p:txBody>
      </p:sp>
      <p:sp>
        <p:nvSpPr>
          <p:cNvPr id="38" name="anim-s7-n5-k0"/>
          <p:cNvSpPr/>
          <p:nvPr/>
        </p:nvSpPr>
        <p:spPr>
          <a:xfrm>
            <a:off x="952500" y="8158758"/>
            <a:ext cx="4095750" cy="1254770"/>
          </a:xfrm>
          <a:prstGeom prst="roundRect">
            <a:avLst>
              <a:gd name="adj" fmla="val 15182"/>
            </a:avLst>
          </a:prstGeom>
          <a:solidFill>
            <a:srgbClr val="E5F1ED"/>
          </a:solidFill>
          <a:ln w="28575">
            <a:solidFill>
              <a:srgbClr val="0F6B5C"/>
            </a:solidFill>
            <a:prstDash val="solid"/>
          </a:ln>
        </p:spPr>
      </p:sp>
      <p:sp>
        <p:nvSpPr>
          <p:cNvPr id="39" name="anim-s7-n5-k1"/>
          <p:cNvSpPr/>
          <p:nvPr/>
        </p:nvSpPr>
        <p:spPr>
          <a:xfrm>
            <a:off x="1228725" y="8415933"/>
            <a:ext cx="3649599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di chuyển</a:t>
            </a:r>
            <a:endParaRPr lang="en-US" sz="2175" dirty="0"/>
          </a:p>
        </p:txBody>
      </p:sp>
      <p:sp>
        <p:nvSpPr>
          <p:cNvPr id="40" name="anim-s7-n5-k2"/>
          <p:cNvSpPr/>
          <p:nvPr/>
        </p:nvSpPr>
        <p:spPr>
          <a:xfrm>
            <a:off x="1228725" y="8847832"/>
            <a:ext cx="3649599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tiên cụm gần và ít đổi khu vực</a:t>
            </a:r>
            <a:endParaRPr lang="en-US" sz="1800" dirty="0"/>
          </a:p>
        </p:txBody>
      </p:sp>
      <p:sp>
        <p:nvSpPr>
          <p:cNvPr id="41" name="anim-s7-n6-k0"/>
          <p:cNvSpPr/>
          <p:nvPr/>
        </p:nvSpPr>
        <p:spPr>
          <a:xfrm>
            <a:off x="5905500" y="8158758"/>
            <a:ext cx="4095750" cy="1254770"/>
          </a:xfrm>
          <a:prstGeom prst="roundRect">
            <a:avLst>
              <a:gd name="adj" fmla="val 15182"/>
            </a:avLst>
          </a:prstGeom>
          <a:solidFill>
            <a:srgbClr val="E2EAF5"/>
          </a:solidFill>
          <a:ln w="28575">
            <a:solidFill>
              <a:srgbClr val="345F91"/>
            </a:solidFill>
            <a:prstDash val="solid"/>
          </a:ln>
        </p:spPr>
      </p:sp>
      <p:sp>
        <p:nvSpPr>
          <p:cNvPr id="42" name="anim-s7-n6-k1"/>
          <p:cNvSpPr/>
          <p:nvPr/>
        </p:nvSpPr>
        <p:spPr>
          <a:xfrm>
            <a:off x="6181725" y="8415933"/>
            <a:ext cx="3649599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Cân bằng trải nghiệm</a:t>
            </a:r>
            <a:endParaRPr lang="en-US" sz="2175" dirty="0"/>
          </a:p>
        </p:txBody>
      </p:sp>
      <p:sp>
        <p:nvSpPr>
          <p:cNvPr id="43" name="anim-s7-n6-k2"/>
          <p:cNvSpPr/>
          <p:nvPr/>
        </p:nvSpPr>
        <p:spPr>
          <a:xfrm>
            <a:off x="6181725" y="8847832"/>
            <a:ext cx="3649599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đa dạng, không lặp kiểu nơi</a:t>
            </a:r>
            <a:endParaRPr lang="en-US" sz="1800" dirty="0"/>
          </a:p>
        </p:txBody>
      </p:sp>
      <p:sp>
        <p:nvSpPr>
          <p:cNvPr id="44" name="anim-s7-n7-k0"/>
          <p:cNvSpPr/>
          <p:nvPr/>
        </p:nvSpPr>
        <p:spPr>
          <a:xfrm>
            <a:off x="13239750" y="8158758"/>
            <a:ext cx="4095750" cy="1254770"/>
          </a:xfrm>
          <a:prstGeom prst="roundRect">
            <a:avLst>
              <a:gd name="adj" fmla="val 15182"/>
            </a:avLst>
          </a:prstGeom>
          <a:solidFill>
            <a:srgbClr val="F5E5C4"/>
          </a:solidFill>
          <a:ln w="28575">
            <a:solidFill>
              <a:srgbClr val="D58A16"/>
            </a:solidFill>
            <a:prstDash val="solid"/>
          </a:ln>
        </p:spPr>
      </p:sp>
      <p:sp>
        <p:nvSpPr>
          <p:cNvPr id="45" name="anim-s7-n7-k1"/>
          <p:cNvSpPr/>
          <p:nvPr/>
        </p:nvSpPr>
        <p:spPr>
          <a:xfrm>
            <a:off x="13515975" y="8415933"/>
            <a:ext cx="3649599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75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dự phòng</a:t>
            </a:r>
            <a:endParaRPr lang="en-US" sz="2175" dirty="0"/>
          </a:p>
        </p:txBody>
      </p:sp>
      <p:sp>
        <p:nvSpPr>
          <p:cNvPr id="46" name="anim-s7-n7-k2"/>
          <p:cNvSpPr/>
          <p:nvPr/>
        </p:nvSpPr>
        <p:spPr>
          <a:xfrm>
            <a:off x="13515975" y="8847832"/>
            <a:ext cx="3649599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Phương án thay khi điều kiện đổi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DỮ LIỆU &amp; AI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Place Intelligence biến dữ liệu rời rạc thành bằng chứng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3069878"/>
            <a:ext cx="5245001" cy="5559772"/>
          </a:xfrm>
          <a:prstGeom prst="roundRect">
            <a:avLst>
              <a:gd name="adj" fmla="val 4358"/>
            </a:avLst>
          </a:prstGeom>
          <a:solidFill>
            <a:srgbClr val="FFFFFF"/>
          </a:solidFill>
          <a:ln w="19050">
            <a:solidFill>
              <a:srgbClr val="345F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4450" y="3450878"/>
            <a:ext cx="800100" cy="447675"/>
          </a:xfrm>
          <a:prstGeom prst="roundRect">
            <a:avLst>
              <a:gd name="adj" fmla="val 50000"/>
            </a:avLst>
          </a:prstGeom>
          <a:solidFill>
            <a:srgbClr val="E2EAF5"/>
          </a:solidFill>
          <a:ln/>
        </p:spPr>
      </p:sp>
      <p:sp>
        <p:nvSpPr>
          <p:cNvPr id="7" name="Text 5"/>
          <p:cNvSpPr/>
          <p:nvPr/>
        </p:nvSpPr>
        <p:spPr>
          <a:xfrm>
            <a:off x="1447800" y="3527078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5F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14450" y="4184303"/>
            <a:ext cx="4656734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Thông tin vận hành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413510" y="4837658"/>
            <a:ext cx="4498241" cy="1516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Giờ mở cửa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 và vé vào cửa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cửa tạm thời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521351" y="3069878"/>
            <a:ext cx="5245150" cy="5559772"/>
          </a:xfrm>
          <a:prstGeom prst="roundRect">
            <a:avLst>
              <a:gd name="adj" fmla="val 4358"/>
            </a:avLst>
          </a:prstGeom>
          <a:solidFill>
            <a:srgbClr val="FFFFFF"/>
          </a:solidFill>
          <a:ln w="19050">
            <a:solidFill>
              <a:srgbClr val="0F6B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83301" y="3450878"/>
            <a:ext cx="1066800" cy="447675"/>
          </a:xfrm>
          <a:prstGeom prst="roundRect">
            <a:avLst>
              <a:gd name="adj" fmla="val 50000"/>
            </a:avLst>
          </a:prstGeom>
          <a:solidFill>
            <a:srgbClr val="E5F1ED"/>
          </a:solidFill>
          <a:ln/>
        </p:spPr>
      </p:sp>
      <p:sp>
        <p:nvSpPr>
          <p:cNvPr id="12" name="Text 10"/>
          <p:cNvSpPr/>
          <p:nvPr/>
        </p:nvSpPr>
        <p:spPr>
          <a:xfrm>
            <a:off x="7016651" y="3527078"/>
            <a:ext cx="8763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83301" y="4184303"/>
            <a:ext cx="4656887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Xu hướng trải nghiệm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982361" y="4837658"/>
            <a:ext cx="4498390" cy="1516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Đông hay yên tĩnh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và không gian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vào, bậc thang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2090350" y="3069878"/>
            <a:ext cx="5245150" cy="5559772"/>
          </a:xfrm>
          <a:prstGeom prst="roundRect">
            <a:avLst>
              <a:gd name="adj" fmla="val 4358"/>
            </a:avLst>
          </a:prstGeom>
          <a:solidFill>
            <a:srgbClr val="FFFFFF"/>
          </a:solidFill>
          <a:ln w="19050">
            <a:solidFill>
              <a:srgbClr val="D58A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2300" y="3450878"/>
            <a:ext cx="1333500" cy="447675"/>
          </a:xfrm>
          <a:prstGeom prst="roundRect">
            <a:avLst>
              <a:gd name="adj" fmla="val 50000"/>
            </a:avLst>
          </a:prstGeom>
          <a:solidFill>
            <a:srgbClr val="F5E5C4"/>
          </a:solidFill>
          <a:ln/>
        </p:spPr>
      </p:sp>
      <p:sp>
        <p:nvSpPr>
          <p:cNvPr id="17" name="Text 15"/>
          <p:cNvSpPr/>
          <p:nvPr/>
        </p:nvSpPr>
        <p:spPr>
          <a:xfrm>
            <a:off x="12585650" y="3527078"/>
            <a:ext cx="1143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A5E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ESTIMATE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452300" y="4184303"/>
            <a:ext cx="4656887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Giá trị suy ra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2551360" y="4837658"/>
            <a:ext cx="4498390" cy="1516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tham quan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 cần thiết</a:t>
            </a:r>
            <a:endParaRPr lang="en-US" sz="2100" dirty="0"/>
          </a:p>
          <a:p>
            <a:pPr algn="l" marL="186690" indent="-186690">
              <a:lnSpc>
                <a:spcPct val="142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trò trong lịch trình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952875" y="8877300"/>
            <a:ext cx="166255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767834" y="8877300"/>
            <a:ext cx="3429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263134" y="8877300"/>
            <a:ext cx="261148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có quote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027021" y="8877300"/>
            <a:ext cx="3429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2321" y="8877300"/>
            <a:ext cx="172908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+ review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1403806" y="8877300"/>
            <a:ext cx="3429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899106" y="8877300"/>
            <a:ext cx="251221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theo địa điểm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7920038" y="9638556"/>
            <a:ext cx="9697926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nguồn có module và thư mục dữ liệu riêng; không gộp nguồn thành một “sự thật” mơ hồ.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83F39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A8DE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TIN CẬY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FFFDF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đề xuất; constraint và validator giữ kế hoạch khả thi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3241328"/>
            <a:ext cx="5219700" cy="2281238"/>
          </a:xfrm>
          <a:prstGeom prst="roundRect">
            <a:avLst>
              <a:gd name="adj" fmla="val 10021"/>
            </a:avLst>
          </a:prstGeom>
          <a:ln w="19050">
            <a:solidFill>
              <a:srgbClr val="FFFFFF">
                <a:alpha val="2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603278"/>
            <a:ext cx="4669917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9FE0B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pass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1295400" y="4403378"/>
            <a:ext cx="4669917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C8D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đủ bằng chứng để đáp ứng constraint.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534150" y="3241328"/>
            <a:ext cx="5219700" cy="2281238"/>
          </a:xfrm>
          <a:prstGeom prst="roundRect">
            <a:avLst>
              <a:gd name="adj" fmla="val 10021"/>
            </a:avLst>
          </a:prstGeom>
          <a:ln w="19050">
            <a:solidFill>
              <a:srgbClr val="FFFFFF">
                <a:alpha val="2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3603278"/>
            <a:ext cx="4669917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0AE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fail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6877050" y="4403378"/>
            <a:ext cx="4669917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C8D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bằng chứng vi phạm, phải loại hoặc sửa.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2115800" y="3241328"/>
            <a:ext cx="5219700" cy="2281238"/>
          </a:xfrm>
          <a:prstGeom prst="roundRect">
            <a:avLst>
              <a:gd name="adj" fmla="val 10021"/>
            </a:avLst>
          </a:prstGeom>
          <a:ln w="19050">
            <a:solidFill>
              <a:srgbClr val="FFFFFF">
                <a:alpha val="2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58700" y="3603278"/>
            <a:ext cx="4669917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2C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unknown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12458700" y="4403378"/>
            <a:ext cx="4669917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C8D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bằng chứng — không được biến thành “không”.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" y="6055965"/>
            <a:ext cx="16383000" cy="904875"/>
          </a:xfrm>
          <a:prstGeom prst="roundRect">
            <a:avLst>
              <a:gd name="adj" fmla="val 21053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276350" y="6351240"/>
            <a:ext cx="77432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2175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ngôn ngữ và đề xuất</a:t>
            </a:r>
            <a:endParaRPr lang="en-US" sz="2175" dirty="0"/>
          </a:p>
        </p:txBody>
      </p:sp>
      <p:sp>
        <p:nvSpPr>
          <p:cNvPr id="16" name="Text 14"/>
          <p:cNvSpPr/>
          <p:nvPr/>
        </p:nvSpPr>
        <p:spPr>
          <a:xfrm>
            <a:off x="9060805" y="6322665"/>
            <a:ext cx="24259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F2C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9493895" y="6351240"/>
            <a:ext cx="77432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 + validator </a:t>
            </a:r>
            <a:pPr algn="l" indent="0" marL="0">
              <a:buNone/>
            </a:pPr>
            <a:r>
              <a:rPr lang="en-US" sz="2175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 khả thi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7153424" y="9638556"/>
            <a:ext cx="10487538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dirty="0">
                <a:solidFill>
                  <a:srgbClr val="B7CE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constraint không có đường code nới. User hard constraint chỉ nới khi người dùng xác nhận.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7CE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KIẾN TRÚC HỆ THỐNG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Kiến trúc tách tri thức địa điểm khỏi từng chuyến đi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3069878"/>
            <a:ext cx="3167063" cy="4993035"/>
          </a:xfrm>
          <a:prstGeom prst="roundRect">
            <a:avLst>
              <a:gd name="adj" fmla="val 7218"/>
            </a:avLst>
          </a:prstGeom>
          <a:solidFill>
            <a:srgbClr val="E5F1ED"/>
          </a:solidFill>
          <a:ln w="19050">
            <a:solidFill>
              <a:srgbClr val="0F6B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412778"/>
            <a:ext cx="2634186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8303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Place Intelligence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57300" y="6665416"/>
            <a:ext cx="2634186" cy="10926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ghi fact, signal, estimate có bằng chứng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4119562" y="3069878"/>
            <a:ext cx="1314450" cy="5031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5357813" y="3069878"/>
            <a:ext cx="3167063" cy="4993035"/>
          </a:xfrm>
          <a:prstGeom prst="roundRect">
            <a:avLst>
              <a:gd name="adj" fmla="val 7218"/>
            </a:avLst>
          </a:prstGeom>
          <a:solidFill>
            <a:srgbClr val="FFFFFF"/>
          </a:solidFill>
          <a:ln w="19050">
            <a:solidFill>
              <a:srgbClr val="CFC7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2613" y="3412778"/>
            <a:ext cx="2634186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8303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Trip Understanding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662613" y="7016948"/>
            <a:ext cx="2634186" cy="741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định chuyến đi → Search Input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8524875" y="3069878"/>
            <a:ext cx="1314450" cy="5031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763125" y="3069878"/>
            <a:ext cx="3167063" cy="4993035"/>
          </a:xfrm>
          <a:prstGeom prst="roundRect">
            <a:avLst>
              <a:gd name="adj" fmla="val 7218"/>
            </a:avLst>
          </a:prstGeom>
          <a:solidFill>
            <a:srgbClr val="FFFFFF"/>
          </a:solidFill>
          <a:ln w="19050">
            <a:solidFill>
              <a:srgbClr val="CFC7B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67925" y="3412778"/>
            <a:ext cx="2634186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8303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Place Decision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067925" y="7016948"/>
            <a:ext cx="2634186" cy="741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Shortlist → người dùng tuyển chọn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930188" y="3069878"/>
            <a:ext cx="1314450" cy="5031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0F6B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68438" y="3069878"/>
            <a:ext cx="3167063" cy="4993035"/>
          </a:xfrm>
          <a:prstGeom prst="roundRect">
            <a:avLst>
              <a:gd name="adj" fmla="val 7218"/>
            </a:avLst>
          </a:prstGeom>
          <a:solidFill>
            <a:srgbClr val="FFFFFF"/>
          </a:solidFill>
          <a:ln w="19050">
            <a:solidFill>
              <a:srgbClr val="CFC7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73238" y="3412778"/>
            <a:ext cx="2634186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8303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Planning &amp; Validation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4473238" y="7016948"/>
            <a:ext cx="2634186" cy="741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Phương án → độ vững → dự phòng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52500" y="8386763"/>
            <a:ext cx="8058150" cy="1176338"/>
          </a:xfrm>
          <a:prstGeom prst="roundRect">
            <a:avLst>
              <a:gd name="adj" fmla="val 12955"/>
            </a:avLst>
          </a:prstGeom>
          <a:solidFill>
            <a:srgbClr val="F1ECE4"/>
          </a:solidFill>
          <a:ln/>
        </p:spPr>
      </p:sp>
      <p:sp>
        <p:nvSpPr>
          <p:cNvPr id="21" name="Text 19"/>
          <p:cNvSpPr/>
          <p:nvPr/>
        </p:nvSpPr>
        <p:spPr>
          <a:xfrm>
            <a:off x="1200150" y="8596313"/>
            <a:ext cx="7804595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</a:t>
            </a:r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183034"/>
                </a:solidFill>
                <a:highlight>
                  <a:srgbClr val="F1ECE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ghi Place Intelligence; online chỉ đọc.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277350" y="8386763"/>
            <a:ext cx="8058150" cy="1176338"/>
          </a:xfrm>
          <a:prstGeom prst="roundRect">
            <a:avLst>
              <a:gd name="adj" fmla="val 12955"/>
            </a:avLst>
          </a:prstGeom>
          <a:solidFill>
            <a:srgbClr val="F1ECE4"/>
          </a:solidFill>
          <a:ln/>
        </p:spPr>
      </p:sp>
      <p:sp>
        <p:nvSpPr>
          <p:cNvPr id="23" name="Text 21"/>
          <p:cNvSpPr/>
          <p:nvPr/>
        </p:nvSpPr>
        <p:spPr>
          <a:xfrm>
            <a:off x="9525000" y="8596313"/>
            <a:ext cx="7804595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context </a:t>
            </a:r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183034"/>
                </a:solidFill>
                <a:highlight>
                  <a:srgbClr val="F1ECE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chỉ thuộc request hiện tại, không thành tri thức lâu dài.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BẰNG CHỨNG CHẠY THẬT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Sản phẩm đã chạy trên dữ liệu Đà Lạt thực</a:t>
            </a:r>
            <a:endParaRPr lang="en-US" sz="4800" dirty="0"/>
          </a:p>
        </p:txBody>
      </p:sp>
      <p:sp>
        <p:nvSpPr>
          <p:cNvPr id="5" name="anim-s11-n0-k0"/>
          <p:cNvSpPr/>
          <p:nvPr/>
        </p:nvSpPr>
        <p:spPr>
          <a:xfrm>
            <a:off x="952500" y="2602111"/>
            <a:ext cx="3895725" cy="2857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476250" dist="209550" dir="5400000">
              <a:srgbClr val="2A322F">
                <a:alpha val="8000"/>
              </a:srgbClr>
            </a:outerShdw>
          </a:effectLst>
        </p:spPr>
      </p:sp>
      <p:sp>
        <p:nvSpPr>
          <p:cNvPr id="6" name="anim-s11-n0-k1"/>
          <p:cNvSpPr/>
          <p:nvPr/>
        </p:nvSpPr>
        <p:spPr>
          <a:xfrm>
            <a:off x="952500" y="2602111"/>
            <a:ext cx="3895725" cy="57150"/>
          </a:xfrm>
          <a:prstGeom prst="rect">
            <a:avLst/>
          </a:prstGeom>
          <a:solidFill>
            <a:srgbClr val="0F6B5C"/>
          </a:solidFill>
          <a:ln/>
        </p:spPr>
      </p:sp>
      <p:sp>
        <p:nvSpPr>
          <p:cNvPr id="7" name="anim-s11-n0-k2"/>
          <p:cNvSpPr/>
          <p:nvPr/>
        </p:nvSpPr>
        <p:spPr>
          <a:xfrm>
            <a:off x="1238250" y="2983111"/>
            <a:ext cx="342395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1830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1.696</a:t>
            </a:r>
            <a:endParaRPr lang="en-US" sz="4500" dirty="0"/>
          </a:p>
        </p:txBody>
      </p:sp>
      <p:sp>
        <p:nvSpPr>
          <p:cNvPr id="8" name="anim-s11-n0-k3"/>
          <p:cNvSpPr/>
          <p:nvPr/>
        </p:nvSpPr>
        <p:spPr>
          <a:xfrm>
            <a:off x="1238250" y="3783211"/>
            <a:ext cx="3423952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địa điểm trong serving index</a:t>
            </a:r>
            <a:endParaRPr lang="en-US" sz="2100" dirty="0"/>
          </a:p>
        </p:txBody>
      </p:sp>
      <p:sp>
        <p:nvSpPr>
          <p:cNvPr id="9" name="anim-s11-n1-k0"/>
          <p:cNvSpPr/>
          <p:nvPr/>
        </p:nvSpPr>
        <p:spPr>
          <a:xfrm>
            <a:off x="5114925" y="2602111"/>
            <a:ext cx="3895725" cy="2857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476250" dist="209550" dir="5400000">
              <a:srgbClr val="2A322F">
                <a:alpha val="8000"/>
              </a:srgbClr>
            </a:outerShdw>
          </a:effectLst>
        </p:spPr>
      </p:sp>
      <p:sp>
        <p:nvSpPr>
          <p:cNvPr id="10" name="anim-s11-n1-k1"/>
          <p:cNvSpPr/>
          <p:nvPr/>
        </p:nvSpPr>
        <p:spPr>
          <a:xfrm>
            <a:off x="5114925" y="2602111"/>
            <a:ext cx="3895725" cy="57150"/>
          </a:xfrm>
          <a:prstGeom prst="rect">
            <a:avLst/>
          </a:prstGeom>
          <a:solidFill>
            <a:srgbClr val="A83F67"/>
          </a:solidFill>
          <a:ln/>
        </p:spPr>
      </p:sp>
      <p:sp>
        <p:nvSpPr>
          <p:cNvPr id="11" name="anim-s11-n1-k2"/>
          <p:cNvSpPr/>
          <p:nvPr/>
        </p:nvSpPr>
        <p:spPr>
          <a:xfrm>
            <a:off x="5400675" y="2983111"/>
            <a:ext cx="342395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1830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28.466</a:t>
            </a:r>
            <a:endParaRPr lang="en-US" sz="4500" dirty="0"/>
          </a:p>
        </p:txBody>
      </p:sp>
      <p:sp>
        <p:nvSpPr>
          <p:cNvPr id="12" name="anim-s11-n1-k3"/>
          <p:cNvSpPr/>
          <p:nvPr/>
        </p:nvSpPr>
        <p:spPr>
          <a:xfrm>
            <a:off x="5400675" y="3783211"/>
            <a:ext cx="3423952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trạng thái thuộc tính đã `VERIFIED`</a:t>
            </a:r>
            <a:endParaRPr lang="en-US" sz="2100" dirty="0"/>
          </a:p>
        </p:txBody>
      </p:sp>
      <p:sp>
        <p:nvSpPr>
          <p:cNvPr id="13" name="anim-s11-n2-k0"/>
          <p:cNvSpPr/>
          <p:nvPr/>
        </p:nvSpPr>
        <p:spPr>
          <a:xfrm>
            <a:off x="9277350" y="2602111"/>
            <a:ext cx="3895725" cy="2857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476250" dist="209550" dir="5400000">
              <a:srgbClr val="2A322F">
                <a:alpha val="8000"/>
              </a:srgbClr>
            </a:outerShdw>
          </a:effectLst>
        </p:spPr>
      </p:sp>
      <p:sp>
        <p:nvSpPr>
          <p:cNvPr id="14" name="anim-s11-n2-k1"/>
          <p:cNvSpPr/>
          <p:nvPr/>
        </p:nvSpPr>
        <p:spPr>
          <a:xfrm>
            <a:off x="9277350" y="2602111"/>
            <a:ext cx="3895725" cy="57150"/>
          </a:xfrm>
          <a:prstGeom prst="rect">
            <a:avLst/>
          </a:prstGeom>
          <a:solidFill>
            <a:srgbClr val="345F91"/>
          </a:solidFill>
          <a:ln/>
        </p:spPr>
      </p:sp>
      <p:sp>
        <p:nvSpPr>
          <p:cNvPr id="15" name="anim-s11-n2-k2"/>
          <p:cNvSpPr/>
          <p:nvPr/>
        </p:nvSpPr>
        <p:spPr>
          <a:xfrm>
            <a:off x="9563100" y="2983111"/>
            <a:ext cx="342395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1830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96,7%</a:t>
            </a:r>
            <a:endParaRPr lang="en-US" sz="4500" dirty="0"/>
          </a:p>
        </p:txBody>
      </p:sp>
      <p:sp>
        <p:nvSpPr>
          <p:cNvPr id="16" name="anim-s11-n2-k3"/>
          <p:cNvSpPr/>
          <p:nvPr/>
        </p:nvSpPr>
        <p:spPr>
          <a:xfrm>
            <a:off x="9563100" y="3783211"/>
            <a:ext cx="3423952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lấp đầy shortlist qua 30 chuyến ẩn</a:t>
            </a:r>
            <a:endParaRPr lang="en-US" sz="2100" dirty="0"/>
          </a:p>
        </p:txBody>
      </p:sp>
      <p:sp>
        <p:nvSpPr>
          <p:cNvPr id="17" name="anim-s11-n3-k0"/>
          <p:cNvSpPr/>
          <p:nvPr/>
        </p:nvSpPr>
        <p:spPr>
          <a:xfrm>
            <a:off x="13439775" y="2602111"/>
            <a:ext cx="3895725" cy="2857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476250" dist="209550" dir="5400000">
              <a:srgbClr val="2A322F">
                <a:alpha val="8000"/>
              </a:srgbClr>
            </a:outerShdw>
          </a:effectLst>
        </p:spPr>
      </p:sp>
      <p:sp>
        <p:nvSpPr>
          <p:cNvPr id="18" name="anim-s11-n3-k1"/>
          <p:cNvSpPr/>
          <p:nvPr/>
        </p:nvSpPr>
        <p:spPr>
          <a:xfrm>
            <a:off x="13439775" y="2602111"/>
            <a:ext cx="3895725" cy="57150"/>
          </a:xfrm>
          <a:prstGeom prst="rect">
            <a:avLst/>
          </a:prstGeom>
          <a:solidFill>
            <a:srgbClr val="D58A16"/>
          </a:solidFill>
          <a:ln/>
        </p:spPr>
      </p:sp>
      <p:sp>
        <p:nvSpPr>
          <p:cNvPr id="19" name="anim-s11-n3-k2"/>
          <p:cNvSpPr/>
          <p:nvPr/>
        </p:nvSpPr>
        <p:spPr>
          <a:xfrm>
            <a:off x="13725525" y="2983111"/>
            <a:ext cx="342395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1830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4500" dirty="0"/>
          </a:p>
        </p:txBody>
      </p:sp>
      <p:sp>
        <p:nvSpPr>
          <p:cNvPr id="20" name="anim-s11-n3-k3"/>
          <p:cNvSpPr/>
          <p:nvPr/>
        </p:nvSpPr>
        <p:spPr>
          <a:xfrm>
            <a:off x="13725525" y="3783211"/>
            <a:ext cx="3423952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violation · tối đa 273 ms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" y="5840611"/>
            <a:ext cx="16383000" cy="762000"/>
          </a:xfrm>
          <a:prstGeom prst="roundRect">
            <a:avLst>
              <a:gd name="adj" fmla="val 22500"/>
            </a:avLst>
          </a:prstGeom>
          <a:solidFill>
            <a:srgbClr val="F5E5C4"/>
          </a:solidFill>
          <a:ln/>
        </p:spPr>
      </p:sp>
      <p:sp>
        <p:nvSpPr>
          <p:cNvPr id="22" name="Text 20"/>
          <p:cNvSpPr/>
          <p:nvPr/>
        </p:nvSpPr>
        <p:spPr>
          <a:xfrm>
            <a:off x="1219200" y="6069211"/>
            <a:ext cx="217750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E5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Giới hạn hiện tại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3549104" y="6073973"/>
            <a:ext cx="834986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A54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chưa đủ 8 nơi; coverage giá trị phủ định vẫn cần thêm nhãn.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202638" y="9638556"/>
            <a:ext cx="8376848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Nguồn: `data/serving/places.json` và `data/decision/eval.json` · build 08/10/2026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4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9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4" presetID="2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8" dur="500" fill="hold"/>
                                        <p:tgtEl>
                                          <p:spTgt spid="20"/>
                                        </p:tgtEl>
                                      </p:cBhvr>
                                      <p:from x="10000" y="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TRẢI NGHIỆM NGƯỜI DÙNG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Người dùng luôn là người quyết định cuối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3156645"/>
            <a:ext cx="4907012" cy="5334000"/>
          </a:xfrm>
          <a:prstGeom prst="roundRect">
            <a:avLst>
              <a:gd name="adj" fmla="val 3882"/>
            </a:avLst>
          </a:prstGeom>
          <a:solidFill>
            <a:srgbClr val="FFFFFF"/>
          </a:solidFill>
          <a:ln w="9525">
            <a:solidFill>
              <a:srgbClr val="CFC7BC"/>
            </a:solidFill>
            <a:prstDash val="solid"/>
          </a:ln>
          <a:effectLst>
            <a:outerShdw sx="100000" sy="100000" kx="0" ky="0" algn="bl" rotWithShape="0" blurRad="523875" dist="209550" dir="5400000">
              <a:srgbClr val="26302F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36961" b="-36961"/>
          <a:stretch/>
        </p:blipFill>
        <p:spPr>
          <a:xfrm>
            <a:off x="952500" y="3156645"/>
            <a:ext cx="4907012" cy="533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78895" y="8643045"/>
            <a:ext cx="505422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Mình ghi lại điều bạn nói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45262" y="2680395"/>
            <a:ext cx="5997327" cy="581025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CFC7BC"/>
            </a:solidFill>
            <a:prstDash val="solid"/>
          </a:ln>
          <a:effectLst>
            <a:outerShdw sx="100000" sy="100000" kx="0" ky="0" algn="bl" rotWithShape="0" blurRad="523875" dist="209550" dir="5400000">
              <a:srgbClr val="26302F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27505" b="-27505"/>
          <a:stretch/>
        </p:blipFill>
        <p:spPr>
          <a:xfrm>
            <a:off x="6145262" y="2680395"/>
            <a:ext cx="5997327" cy="58102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55302" y="8643045"/>
            <a:ext cx="61772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hiện khác biệt để dễ chọn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428339" y="3156645"/>
            <a:ext cx="4907012" cy="5334000"/>
          </a:xfrm>
          <a:prstGeom prst="roundRect">
            <a:avLst>
              <a:gd name="adj" fmla="val 3882"/>
            </a:avLst>
          </a:prstGeom>
          <a:solidFill>
            <a:srgbClr val="FFFFFF"/>
          </a:solidFill>
          <a:ln w="9525">
            <a:solidFill>
              <a:srgbClr val="CFC7BC"/>
            </a:solidFill>
            <a:prstDash val="solid"/>
          </a:ln>
          <a:effectLst>
            <a:outerShdw sx="100000" sy="100000" kx="0" ky="0" algn="bl" rotWithShape="0" blurRad="523875" dist="209550" dir="5400000">
              <a:srgbClr val="26302F">
                <a:alpha val="1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-36961" b="-36961"/>
          <a:stretch/>
        </p:blipFill>
        <p:spPr>
          <a:xfrm>
            <a:off x="12428339" y="3156645"/>
            <a:ext cx="4907012" cy="5334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54734" y="8643045"/>
            <a:ext cx="505422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830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 nằm ngay tại quyết định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5253038" y="9157395"/>
            <a:ext cx="8015383" cy="443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250" i="1" dirty="0">
                <a:solidFill>
                  <a:srgbClr val="0F6B5C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TripGuardian không lặng lẽ bỏ một nơi người dùng đã chọn.</a:t>
            </a:r>
            <a:endParaRPr lang="en-US" sz="2250" dirty="0"/>
          </a:p>
        </p:txBody>
      </p:sp>
      <p:sp>
        <p:nvSpPr>
          <p:cNvPr id="15" name="Text 10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E7E8"/>
          </a:solidFill>
          <a:ln/>
        </p:spPr>
      </p:sp>
      <p:sp>
        <p:nvSpPr>
          <p:cNvPr id="3" name="Text 1"/>
          <p:cNvSpPr/>
          <p:nvPr/>
        </p:nvSpPr>
        <p:spPr>
          <a:xfrm>
            <a:off x="952500" y="838200"/>
            <a:ext cx="16874490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BƯỚC TIẾP THEO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1334244"/>
            <a:ext cx="15500985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Bước tiếp theo là tăng coverage trước khi mở rộng địa bàn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52500" y="4459039"/>
            <a:ext cx="5219700" cy="371475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9050">
            <a:solidFill>
              <a:srgbClr val="CFC7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5400" y="4859089"/>
            <a:ext cx="590550" cy="590550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859089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5773489"/>
            <a:ext cx="4669917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Tăng coverage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426845"/>
            <a:ext cx="4669917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tiên nhãn cho giá trị phủ định và constraint có rủi ro cao.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534150" y="4459039"/>
            <a:ext cx="5219700" cy="371475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9050">
            <a:solidFill>
              <a:srgbClr val="CFC7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77050" y="4859089"/>
            <a:ext cx="590550" cy="590550"/>
          </a:xfrm>
          <a:prstGeom prst="ellipse">
            <a:avLst/>
          </a:prstGeom>
          <a:solidFill>
            <a:srgbClr val="A83F67"/>
          </a:solidFill>
          <a:ln/>
        </p:spPr>
      </p:sp>
      <p:sp>
        <p:nvSpPr>
          <p:cNvPr id="12" name="Text 10"/>
          <p:cNvSpPr/>
          <p:nvPr/>
        </p:nvSpPr>
        <p:spPr>
          <a:xfrm>
            <a:off x="6877050" y="4859089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77050" y="5773489"/>
            <a:ext cx="4669917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Pilot người dùng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877050" y="6426845"/>
            <a:ext cx="4669917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thời gian lập kế hoạch, số lần sửa và mức tự tin khi chọn.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2115800" y="4459039"/>
            <a:ext cx="5219700" cy="371475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9050">
            <a:solidFill>
              <a:srgbClr val="CFC7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8700" y="4859089"/>
            <a:ext cx="590550" cy="590550"/>
          </a:xfrm>
          <a:prstGeom prst="ellipse">
            <a:avLst/>
          </a:prstGeom>
          <a:solidFill>
            <a:srgbClr val="D58A16"/>
          </a:solidFill>
          <a:ln/>
        </p:spPr>
      </p:sp>
      <p:sp>
        <p:nvSpPr>
          <p:cNvPr id="17" name="Text 15"/>
          <p:cNvSpPr/>
          <p:nvPr/>
        </p:nvSpPr>
        <p:spPr>
          <a:xfrm>
            <a:off x="12458700" y="4859089"/>
            <a:ext cx="6667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458700" y="5773489"/>
            <a:ext cx="4669917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183034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Mở rộng có gate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2458700" y="6426845"/>
            <a:ext cx="4669917" cy="795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1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thêm thành phố khi chất lượng dữ liệu vượt ngưỡng kiểm chứng.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643664" y="9638556"/>
            <a:ext cx="9982591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800" dirty="0">
                <a:solidFill>
                  <a:srgbClr val="60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rộng theo module nguồn và config địa phương — không đánh đổi nguyên tắc evidence-first.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2500" y="9667875"/>
            <a:ext cx="342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0727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83F3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53450" y="2244030"/>
            <a:ext cx="1181100" cy="1181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64996" y="3787080"/>
            <a:ext cx="2158008" cy="3626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800" b="1" spc="216" kern="0" dirty="0">
                <a:solidFill>
                  <a:srgbClr val="A8DE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TRIPGUARDIAN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125801" y="4283125"/>
            <a:ext cx="10036397" cy="17645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6600" b="1" dirty="0">
                <a:solidFill>
                  <a:srgbClr val="FFFDF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Từ hàng nghìn nơi đến</a:t>
            </a:r>
            <a:endParaRPr lang="en-US" sz="6600" dirty="0"/>
          </a:p>
          <a:p>
            <a:pPr algn="ctr" indent="0" marL="0">
              <a:lnSpc>
                <a:spcPct val="103000"/>
              </a:lnSpc>
              <a:buNone/>
            </a:pPr>
            <a:r>
              <a:rPr lang="en-US" sz="6600" b="1" dirty="0">
                <a:solidFill>
                  <a:srgbClr val="FFFDF8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một chuyến đi có thể tin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8286750" y="6371481"/>
            <a:ext cx="1714500" cy="47625"/>
          </a:xfrm>
          <a:prstGeom prst="rect">
            <a:avLst/>
          </a:prstGeom>
          <a:solidFill>
            <a:srgbClr val="F2CED8"/>
          </a:solidFill>
          <a:ln/>
        </p:spPr>
      </p:sp>
      <p:sp>
        <p:nvSpPr>
          <p:cNvPr id="7" name="Text 4"/>
          <p:cNvSpPr/>
          <p:nvPr/>
        </p:nvSpPr>
        <p:spPr>
          <a:xfrm>
            <a:off x="7548833" y="7143006"/>
            <a:ext cx="3190333" cy="633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3300" b="1" dirty="0">
                <a:solidFill>
                  <a:srgbClr val="A8DE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demo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2026-10-09T04:29:38Z</dcterms:created>
  <dcterms:modified xsi:type="dcterms:W3CDTF">2026-10-09T04:29:38Z</dcterms:modified>
</cp:coreProperties>
</file>