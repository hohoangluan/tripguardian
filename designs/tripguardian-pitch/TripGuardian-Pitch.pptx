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9CAC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907" b="290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429750" cy="10287000"/>
          </a:xfrm>
          <a:prstGeom prst="rect">
            <a:avLst/>
          </a:prstGeom>
          <a:solidFill>
            <a:srgbClr val="FAF7F2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420225" y="0"/>
            <a:ext cx="9525" cy="10287000"/>
          </a:xfrm>
          <a:prstGeom prst="rect">
            <a:avLst/>
          </a:prstGeom>
          <a:solidFill>
            <a:srgbClr val="4F3B3A">
              <a:alpha val="18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892052"/>
            <a:ext cx="666750" cy="666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09750" y="1968252"/>
            <a:ext cx="263909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TripGuardian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952500" y="3073152"/>
            <a:ext cx="781916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PLACE INTELLIGENCE · ĐÀ LẠT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52500" y="3545532"/>
            <a:ext cx="7819168" cy="2894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350" b="1" dirty="0">
                <a:solidFill>
                  <a:srgbClr val="382B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Chọn đúng nơi</a:t>
            </a:r>
            <a:endParaRPr lang="en-US" sz="7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7350" b="1" dirty="0">
                <a:solidFill>
                  <a:srgbClr val="382B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trước khi xếp lịch</a:t>
            </a:r>
            <a:endParaRPr lang="en-US" sz="7350" dirty="0"/>
          </a:p>
        </p:txBody>
      </p:sp>
      <p:sp>
        <p:nvSpPr>
          <p:cNvPr id="10" name="Text 6"/>
          <p:cNvSpPr/>
          <p:nvPr/>
        </p:nvSpPr>
        <p:spPr>
          <a:xfrm>
            <a:off x="952500" y="6668393"/>
            <a:ext cx="7652385" cy="96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50" dirty="0">
                <a:solidFill>
                  <a:srgbClr val="75445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Bằng chứng có trạng thái. Ràng buộc có thể giải thích. Người dùng chốt cuối.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952500" y="8109049"/>
            <a:ext cx="15906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4A5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Pitching deck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638425" y="8242399"/>
            <a:ext cx="381000" cy="19050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13" name="Text 9"/>
          <p:cNvSpPr/>
          <p:nvPr/>
        </p:nvSpPr>
        <p:spPr>
          <a:xfrm>
            <a:off x="3190875" y="8109049"/>
            <a:ext cx="8858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4A5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 phút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171950" y="8242399"/>
            <a:ext cx="381000" cy="19050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15" name="Text 11"/>
          <p:cNvSpPr/>
          <p:nvPr/>
        </p:nvSpPr>
        <p:spPr>
          <a:xfrm>
            <a:off x="4724400" y="8109049"/>
            <a:ext cx="685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4A5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 · VẤN ĐỀ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Người dùng không thiếu gợi ý; họ thiếu một quyết định có thể kiểm tra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74764"/>
            <a:ext cx="6203603" cy="6574036"/>
          </a:xfrm>
          <a:prstGeom prst="roundRect">
            <a:avLst>
              <a:gd name="adj" fmla="val 3992"/>
            </a:avLst>
          </a:prstGeom>
          <a:solidFill>
            <a:srgbClr val="083F39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217664"/>
            <a:ext cx="568333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Từng nơi đều hấp dẫn.</a:t>
            </a:r>
            <a:endParaRPr lang="en-US" sz="3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Tổ hợp vẫn có thể bất khả thi.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300" y="7505700"/>
            <a:ext cx="568333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D3E4E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 nhất không phải tìm thêm địa điểm, mà là nhìn thấy đánh đổi về thời gian, di chuyển, giờ mở cửa và sức lực trước khi chốt.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670453" y="2874764"/>
            <a:ext cx="9703147" cy="6574036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2878" y="3189089"/>
            <a:ext cx="4286250" cy="438150"/>
          </a:xfrm>
          <a:prstGeom prst="roundRect">
            <a:avLst>
              <a:gd name="adj" fmla="val 50000"/>
            </a:avLst>
          </a:prstGeom>
          <a:solidFill>
            <a:srgbClr val="EEE8DF"/>
          </a:solidFill>
          <a:ln/>
        </p:spPr>
      </p:sp>
      <p:sp>
        <p:nvSpPr>
          <p:cNvPr id="10" name="Text 8"/>
          <p:cNvSpPr/>
          <p:nvPr/>
        </p:nvSpPr>
        <p:spPr>
          <a:xfrm>
            <a:off x="8156228" y="3265289"/>
            <a:ext cx="41481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 minh họa · một ngày ở Đà Lạt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22878" y="3855839"/>
            <a:ext cx="2135237" cy="4002286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022878" y="3855839"/>
            <a:ext cx="2135237" cy="47625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13378" y="4132064"/>
            <a:ext cx="1830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06:00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13378" y="4608314"/>
            <a:ext cx="17335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Săn mây ngoại 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310515" y="3855839"/>
            <a:ext cx="2135237" cy="4002286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0515" y="3855839"/>
            <a:ext cx="2135237" cy="47625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01015" y="4132064"/>
            <a:ext cx="1830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10:30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501015" y="4608314"/>
            <a:ext cx="13811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 phê ở hướng khác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598152" y="3855839"/>
            <a:ext cx="2135237" cy="4002286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98152" y="3855839"/>
            <a:ext cx="2135237" cy="4762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21" name="Text 19"/>
          <p:cNvSpPr/>
          <p:nvPr/>
        </p:nvSpPr>
        <p:spPr>
          <a:xfrm>
            <a:off x="12788652" y="4132064"/>
            <a:ext cx="1830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14:00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88652" y="4608314"/>
            <a:ext cx="16287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check-in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885789" y="3855839"/>
            <a:ext cx="2135386" cy="4002286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4885789" y="3855839"/>
            <a:ext cx="2135386" cy="4762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5" name="Text 23"/>
          <p:cNvSpPr/>
          <p:nvPr/>
        </p:nvSpPr>
        <p:spPr>
          <a:xfrm>
            <a:off x="15076289" y="4132064"/>
            <a:ext cx="18305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17:00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5076289" y="4608314"/>
            <a:ext cx="12001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 cuối đóng cửa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22878" y="8086725"/>
            <a:ext cx="8998297" cy="1047750"/>
          </a:xfrm>
          <a:prstGeom prst="roundRect">
            <a:avLst>
              <a:gd name="adj" fmla="val 14545"/>
            </a:avLst>
          </a:prstGeom>
          <a:solidFill>
            <a:srgbClr val="F6DFDC"/>
          </a:solidFill>
          <a:ln/>
        </p:spPr>
      </p:sp>
      <p:sp>
        <p:nvSpPr>
          <p:cNvPr id="28" name="Text 26"/>
          <p:cNvSpPr/>
          <p:nvPr/>
        </p:nvSpPr>
        <p:spPr>
          <a:xfrm>
            <a:off x="8270528" y="8296275"/>
            <a:ext cx="3442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137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lựa chọn tốt ≠ một lịch khả thi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822311" y="8296275"/>
            <a:ext cx="5099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137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di chuyển và cửa sổ hoạt động xung đột.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E7E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 · BỐI CẢNH VIỆT NAM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Ở Việt Nam, một quyết định du lịch phải ghép nhiều nguồn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74764"/>
            <a:ext cx="4070598" cy="3182243"/>
          </a:xfrm>
          <a:prstGeom prst="roundRect">
            <a:avLst>
              <a:gd name="adj" fmla="val 5986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A83F67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3131939"/>
            <a:ext cx="3623692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53%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190625" y="3893939"/>
            <a:ext cx="346319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mạng xã hội để tìm điểm đến mới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94548" y="2874764"/>
            <a:ext cx="4070747" cy="3182243"/>
          </a:xfrm>
          <a:prstGeom prst="roundRect">
            <a:avLst>
              <a:gd name="adj" fmla="val 5986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A83F67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0773" y="3131939"/>
            <a:ext cx="362384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47%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5470773" y="3893939"/>
            <a:ext cx="3168872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mạng xã hội trong giai đoạn lập kế hoạch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6266557"/>
            <a:ext cx="4070598" cy="3182243"/>
          </a:xfrm>
          <a:prstGeom prst="roundRect">
            <a:avLst>
              <a:gd name="adj" fmla="val 5986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A83F67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6523732"/>
            <a:ext cx="3623692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35%</a:t>
            </a:r>
            <a:endParaRPr lang="en-US" sz="4050" dirty="0"/>
          </a:p>
        </p:txBody>
      </p:sp>
      <p:sp>
        <p:nvSpPr>
          <p:cNvPr id="13" name="Text 11"/>
          <p:cNvSpPr/>
          <p:nvPr/>
        </p:nvSpPr>
        <p:spPr>
          <a:xfrm>
            <a:off x="1190625" y="7285732"/>
            <a:ext cx="3620167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nền tảng du lịch khi lập kế hoạch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94548" y="6266557"/>
            <a:ext cx="4070747" cy="3182243"/>
          </a:xfrm>
          <a:prstGeom prst="roundRect">
            <a:avLst>
              <a:gd name="adj" fmla="val 5986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A83F67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0773" y="6523732"/>
            <a:ext cx="362384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32%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5470773" y="7285732"/>
            <a:ext cx="3286601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Maps, Waze hoặc Grab khi lập kế hoạch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17745" y="4132957"/>
            <a:ext cx="7555706" cy="695325"/>
          </a:xfrm>
          <a:prstGeom prst="roundRect">
            <a:avLst>
              <a:gd name="adj" fmla="val 2465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46345" y="4323457"/>
            <a:ext cx="2171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xã hội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32345" y="4337745"/>
            <a:ext cx="4956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 phá cảm hứng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17745" y="4980682"/>
            <a:ext cx="7555706" cy="695325"/>
          </a:xfrm>
          <a:prstGeom prst="roundRect">
            <a:avLst>
              <a:gd name="adj" fmla="val 2465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6345" y="5171182"/>
            <a:ext cx="2171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332345" y="5185470"/>
            <a:ext cx="4956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danh, vị trí, vận hành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17745" y="5828407"/>
            <a:ext cx="7555706" cy="1009650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6345" y="6018907"/>
            <a:ext cx="2171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 / nền tảng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332345" y="6190357"/>
            <a:ext cx="4956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Kinh nghiệm, giá và giao dịch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817745" y="6990457"/>
            <a:ext cx="7555706" cy="1200150"/>
          </a:xfrm>
          <a:prstGeom prst="rect">
            <a:avLst/>
          </a:prstGeom>
          <a:solidFill>
            <a:srgbClr val="DCE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9817745" y="6990457"/>
            <a:ext cx="57150" cy="120015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1595" y="7219057"/>
            <a:ext cx="719182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Mỗi nguồn giải quyết một phần; người dùng vẫn gánh bước tổng hợp thành quyết định.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7553039" y="9692729"/>
            <a:ext cx="98205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 Traveloka × YouGov, APAC Travel Trends 2024 · gần 12.000 người, 9 thị trường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 · CÔNG CỤ HIỆN TẠI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Các công cụ hiện tại giải quyết những phần khác nhau của hành trình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74764"/>
            <a:ext cx="8124825" cy="2077045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42284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874764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74764"/>
            <a:ext cx="57150" cy="207704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9" name="Shape 7"/>
          <p:cNvSpPr/>
          <p:nvPr/>
        </p:nvSpPr>
        <p:spPr>
          <a:xfrm>
            <a:off x="9029700" y="2874764"/>
            <a:ext cx="9525" cy="207704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0" name="Text 8"/>
          <p:cNvSpPr/>
          <p:nvPr/>
        </p:nvSpPr>
        <p:spPr>
          <a:xfrm>
            <a:off x="1200150" y="3748980"/>
            <a:ext cx="1885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Maps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219450" y="3424982"/>
            <a:ext cx="5749100" cy="64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nơi → xem thông tin/review → lưu list → chỉ đường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19450" y="4104531"/>
            <a:ext cx="57491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ở: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danh, vị trí, review và điều hướng.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48775" y="2874764"/>
            <a:ext cx="8124825" cy="2077045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248775" y="4942284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5" name="Shape 13"/>
          <p:cNvSpPr/>
          <p:nvPr/>
        </p:nvSpPr>
        <p:spPr>
          <a:xfrm>
            <a:off x="9248775" y="2874764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6" name="Shape 14"/>
          <p:cNvSpPr/>
          <p:nvPr/>
        </p:nvSpPr>
        <p:spPr>
          <a:xfrm>
            <a:off x="9248775" y="2874764"/>
            <a:ext cx="57150" cy="2077045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64075" y="2874764"/>
            <a:ext cx="9525" cy="207704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8" name="Text 16"/>
          <p:cNvSpPr/>
          <p:nvPr/>
        </p:nvSpPr>
        <p:spPr>
          <a:xfrm>
            <a:off x="9534525" y="3748980"/>
            <a:ext cx="1885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Traveloka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553825" y="3424982"/>
            <a:ext cx="5749100" cy="64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theo ngày → chọn/lọc → thanh toán → quản lý voucher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53825" y="4104531"/>
            <a:ext cx="57491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ở: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giá, booking và vận hành sau đặt.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123259"/>
            <a:ext cx="8124825" cy="2077045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7190780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5123259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123259"/>
            <a:ext cx="57150" cy="2077045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123259"/>
            <a:ext cx="9525" cy="207704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6" name="Text 24"/>
          <p:cNvSpPr/>
          <p:nvPr/>
        </p:nvSpPr>
        <p:spPr>
          <a:xfrm>
            <a:off x="1200150" y="5997476"/>
            <a:ext cx="1885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Wanderlog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3219450" y="5673477"/>
            <a:ext cx="5749100" cy="64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chuyến → thêm nơi → xếp ngày → tối ưu route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19450" y="6353026"/>
            <a:ext cx="57491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ở: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lắp ráp lịch, map, cộng tác và budget.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48775" y="5123259"/>
            <a:ext cx="8124825" cy="2077045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248775" y="7190780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8775" y="5123259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32" name="Shape 30"/>
          <p:cNvSpPr/>
          <p:nvPr/>
        </p:nvSpPr>
        <p:spPr>
          <a:xfrm>
            <a:off x="9248775" y="5123259"/>
            <a:ext cx="57150" cy="207704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64075" y="5123259"/>
            <a:ext cx="9525" cy="207704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34" name="Text 32"/>
          <p:cNvSpPr/>
          <p:nvPr/>
        </p:nvSpPr>
        <p:spPr>
          <a:xfrm>
            <a:off x="9534525" y="5833170"/>
            <a:ext cx="18859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Tripadvisor AI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1553825" y="5524946"/>
            <a:ext cx="5749100" cy="64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 chuyến → gợi ý → lịch theo ngày → sửa/chia sẻ → booking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553825" y="6204496"/>
            <a:ext cx="574910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ở: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planning dựa trên review, giá và availability.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7371755"/>
            <a:ext cx="8124825" cy="2077045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" y="9439275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7371755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7371755"/>
            <a:ext cx="57150" cy="2077045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41" name="Shape 39"/>
          <p:cNvSpPr/>
          <p:nvPr/>
        </p:nvSpPr>
        <p:spPr>
          <a:xfrm>
            <a:off x="9029700" y="7371755"/>
            <a:ext cx="9525" cy="207704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42" name="Text 40"/>
          <p:cNvSpPr/>
          <p:nvPr/>
        </p:nvSpPr>
        <p:spPr>
          <a:xfrm>
            <a:off x="1200150" y="8245971"/>
            <a:ext cx="1885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Mindtrip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3219450" y="7773442"/>
            <a:ext cx="5749100" cy="64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 sở thích → lưu ý tưởng → dựng/chỉnh lịch → cộng tác → booking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219450" y="8452991"/>
            <a:ext cx="574910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ở: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travel end-to-end và map trong chuyến đi.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248775" y="7371755"/>
            <a:ext cx="8124825" cy="2077045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248775" y="9439275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47" name="Shape 45"/>
          <p:cNvSpPr/>
          <p:nvPr/>
        </p:nvSpPr>
        <p:spPr>
          <a:xfrm>
            <a:off x="9248775" y="7371755"/>
            <a:ext cx="81248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48" name="Shape 46"/>
          <p:cNvSpPr/>
          <p:nvPr/>
        </p:nvSpPr>
        <p:spPr>
          <a:xfrm>
            <a:off x="9248775" y="7371755"/>
            <a:ext cx="57150" cy="2077045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9" name="Shape 47"/>
          <p:cNvSpPr/>
          <p:nvPr/>
        </p:nvSpPr>
        <p:spPr>
          <a:xfrm>
            <a:off x="17364075" y="7371755"/>
            <a:ext cx="9525" cy="207704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50" name="Text 48"/>
          <p:cNvSpPr/>
          <p:nvPr/>
        </p:nvSpPr>
        <p:spPr>
          <a:xfrm>
            <a:off x="9534525" y="8245971"/>
            <a:ext cx="1885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Layla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11553825" y="7921972"/>
            <a:ext cx="5749100" cy="641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 ngày/ngân sách → lịch dùng dữ liệu live → tinh chỉnh AI/chuyên gia → booking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553825" y="8601521"/>
            <a:ext cx="57491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ở: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planner kết hợp chuyên gia du lịch.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220170" y="9692729"/>
            <a:ext cx="915343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tóm tắt từ tài liệu chính thức, truy cập 09/10/2026 · link đầy đủ ở phụ lục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 · ĐỊNH VỊ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Khoảng trống nằm ở bước chốt lựa chọn dưới ràng buộc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30797"/>
            <a:ext cx="3200400" cy="1835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30797"/>
            <a:ext cx="3200400" cy="57150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616547"/>
            <a:ext cx="290398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Khám phá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04900" y="3046958"/>
            <a:ext cx="2428875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cảm hứng và địa điểm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29100" y="2330797"/>
            <a:ext cx="3200400" cy="1835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9100" y="2330797"/>
            <a:ext cx="3200400" cy="57150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1" name="Text 9"/>
          <p:cNvSpPr/>
          <p:nvPr/>
        </p:nvSpPr>
        <p:spPr>
          <a:xfrm>
            <a:off x="4419600" y="2616547"/>
            <a:ext cx="290398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Lưu / thu hẹp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419600" y="3046958"/>
            <a:ext cx="2737199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 lựa chọn đáng cân nhắc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43800" y="2330797"/>
            <a:ext cx="3200400" cy="1835944"/>
          </a:xfrm>
          <a:prstGeom prst="rect">
            <a:avLst/>
          </a:prstGeom>
          <a:solidFill>
            <a:srgbClr val="FF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3800" y="2330797"/>
            <a:ext cx="3200400" cy="57150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15" name="Text 13"/>
          <p:cNvSpPr/>
          <p:nvPr/>
        </p:nvSpPr>
        <p:spPr>
          <a:xfrm>
            <a:off x="7734300" y="2616547"/>
            <a:ext cx="290398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Kiểm tra tập đã chọn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734300" y="3344019"/>
            <a:ext cx="23241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chứng, hard constraint, đánh đổi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58500" y="2330797"/>
            <a:ext cx="3200400" cy="1835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58500" y="2330797"/>
            <a:ext cx="3200400" cy="57150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2616547"/>
            <a:ext cx="290398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· Xếp lịch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049000" y="3046958"/>
            <a:ext cx="2825496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 nơi đã chốt vào thời gian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0" y="2330797"/>
            <a:ext cx="3200400" cy="1835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4173200" y="2330797"/>
            <a:ext cx="3200400" cy="57150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3" name="Text 21"/>
          <p:cNvSpPr/>
          <p:nvPr/>
        </p:nvSpPr>
        <p:spPr>
          <a:xfrm>
            <a:off x="14363700" y="2616547"/>
            <a:ext cx="290398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· Đặt / điều hướng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363700" y="3046958"/>
            <a:ext cx="24003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dịch và thực thi chuyến đi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4376291"/>
            <a:ext cx="3200400" cy="1847850"/>
          </a:xfrm>
          <a:prstGeom prst="roundRect">
            <a:avLst>
              <a:gd name="adj" fmla="val 9278"/>
            </a:avLst>
          </a:prstGeom>
          <a:solidFill>
            <a:srgbClr val="EEE8DF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4547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66800" y="4928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Tripadvisor 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66800" y="5309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Mindtrip · Layla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229100" y="4376291"/>
            <a:ext cx="3200400" cy="1847850"/>
          </a:xfrm>
          <a:prstGeom prst="roundRect">
            <a:avLst>
              <a:gd name="adj" fmla="val 9278"/>
            </a:avLst>
          </a:prstGeom>
          <a:solidFill>
            <a:srgbClr val="EEE8DF"/>
          </a:solidFill>
          <a:ln/>
        </p:spPr>
      </p:sp>
      <p:sp>
        <p:nvSpPr>
          <p:cNvPr id="30" name="Text 28"/>
          <p:cNvSpPr/>
          <p:nvPr/>
        </p:nvSpPr>
        <p:spPr>
          <a:xfrm>
            <a:off x="4381500" y="4547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381500" y="4928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Wanderlog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81500" y="5309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Mindtrip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43800" y="4376291"/>
            <a:ext cx="3200400" cy="1847850"/>
          </a:xfrm>
          <a:prstGeom prst="roundRect">
            <a:avLst>
              <a:gd name="adj" fmla="val 9278"/>
            </a:avLst>
          </a:prstGeom>
          <a:solidFill>
            <a:srgbClr val="083F39"/>
          </a:solidFill>
          <a:ln/>
        </p:spPr>
      </p:sp>
      <p:sp>
        <p:nvSpPr>
          <p:cNvPr id="34" name="Text 32"/>
          <p:cNvSpPr/>
          <p:nvPr/>
        </p:nvSpPr>
        <p:spPr>
          <a:xfrm>
            <a:off x="7696200" y="4547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A8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TripGuardian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96200" y="4928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Evidence state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96200" y="5309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 / fail / unknown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858500" y="4376291"/>
            <a:ext cx="3200400" cy="1847850"/>
          </a:xfrm>
          <a:prstGeom prst="roundRect">
            <a:avLst>
              <a:gd name="adj" fmla="val 9278"/>
            </a:avLst>
          </a:prstGeom>
          <a:solidFill>
            <a:srgbClr val="EEE8DF"/>
          </a:solidFill>
          <a:ln/>
        </p:spPr>
      </p:sp>
      <p:sp>
        <p:nvSpPr>
          <p:cNvPr id="38" name="Text 36"/>
          <p:cNvSpPr/>
          <p:nvPr/>
        </p:nvSpPr>
        <p:spPr>
          <a:xfrm>
            <a:off x="11010900" y="4547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Wanderlog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010900" y="4928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Tripadvisor AI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010900" y="5309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Mindtrip · Layla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4173200" y="4376291"/>
            <a:ext cx="3200400" cy="1847850"/>
          </a:xfrm>
          <a:prstGeom prst="roundRect">
            <a:avLst>
              <a:gd name="adj" fmla="val 9278"/>
            </a:avLst>
          </a:prstGeom>
          <a:solidFill>
            <a:srgbClr val="EEE8DF"/>
          </a:solidFill>
          <a:ln/>
        </p:spPr>
      </p:sp>
      <p:sp>
        <p:nvSpPr>
          <p:cNvPr id="42" name="Text 40"/>
          <p:cNvSpPr/>
          <p:nvPr/>
        </p:nvSpPr>
        <p:spPr>
          <a:xfrm>
            <a:off x="14325600" y="4547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Traveloka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4325600" y="4928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325600" y="5309741"/>
            <a:ext cx="2982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planners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67512" y="6433691"/>
            <a:ext cx="1695297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0F6B5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TripGuardian đặt cược vào bước kiểm tra tập lựa chọn — trước khi lịch được sinh ra.</a:t>
            </a:r>
            <a:endParaRPr lang="en-US" sz="2325" dirty="0"/>
          </a:p>
        </p:txBody>
      </p:sp>
      <p:sp>
        <p:nvSpPr>
          <p:cNvPr id="46" name="Text 44"/>
          <p:cNvSpPr/>
          <p:nvPr/>
        </p:nvSpPr>
        <p:spPr>
          <a:xfrm>
            <a:off x="7494175" y="9692729"/>
            <a:ext cx="987942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 là so sánh định vị từ tài liệu công khai, không phải benchmark chất lượng đối đầu.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3F3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A8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 · GIÁ TRỊ CỐT LÕI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DF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TripGuardian bắt đầu từ quyết định, không bắt đầu từ một lịch sinh sẵn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3988147"/>
            <a:ext cx="5295900" cy="3714750"/>
          </a:xfrm>
          <a:prstGeom prst="roundRect">
            <a:avLst>
              <a:gd name="adj" fmla="val 6667"/>
            </a:avLst>
          </a:prstGeom>
          <a:ln w="190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4350097"/>
            <a:ext cx="478764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C9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38250" y="5388322"/>
            <a:ext cx="4787646" cy="950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Nơi nào phù hợp với chuyến đi này?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496050" y="3988147"/>
            <a:ext cx="5295900" cy="3714750"/>
          </a:xfrm>
          <a:prstGeom prst="roundRect">
            <a:avLst>
              <a:gd name="adj" fmla="val 6667"/>
            </a:avLst>
          </a:prstGeom>
          <a:ln w="190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9900" y="4350097"/>
            <a:ext cx="478764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C9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19900" y="5388322"/>
            <a:ext cx="4787646" cy="950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Vì sao chọn nơi này thay vì lựa chọn khác?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2077700" y="3988147"/>
            <a:ext cx="5295900" cy="3714750"/>
          </a:xfrm>
          <a:prstGeom prst="roundRect">
            <a:avLst>
              <a:gd name="adj" fmla="val 6667"/>
            </a:avLst>
          </a:prstGeom>
          <a:ln w="190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01550" y="4350097"/>
            <a:ext cx="478764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C9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401550" y="5388322"/>
            <a:ext cx="4787646" cy="950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Các nơi đã chọn có thực sự đi cùng nhau được không?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67512" y="9102179"/>
            <a:ext cx="1695297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8D0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 biệt được trình bày là thiết kế cơ chế; chưa phải bằng chứng TripGuardian tốt hơn đối thủ.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D0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 · TRẢI NGHIỆM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Từ một câu kể đến danh sách địa điểm do người dùng chốt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74764"/>
            <a:ext cx="6864400" cy="1330523"/>
          </a:xfrm>
          <a:prstGeom prst="roundRect">
            <a:avLst>
              <a:gd name="adj" fmla="val 15749"/>
            </a:avLst>
          </a:prstGeom>
          <a:solidFill>
            <a:srgbClr val="083F39"/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3141464"/>
            <a:ext cx="6498832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“3 ngày ở Đà Lạt cho hai người, đi xe máy, thích chill, cà phê, săn mây.”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14400" y="7038975"/>
            <a:ext cx="686440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05575"/>
            <a:ext cx="400050" cy="400050"/>
          </a:xfrm>
          <a:prstGeom prst="ellipse">
            <a:avLst/>
          </a:prstGeom>
          <a:solidFill>
            <a:srgbClr val="F2CE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5055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4950" y="6548438"/>
            <a:ext cx="64620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 preference và hard constraint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7839075"/>
            <a:ext cx="686440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7305675"/>
            <a:ext cx="400050" cy="400050"/>
          </a:xfrm>
          <a:prstGeom prst="ellipse">
            <a:avLst/>
          </a:prstGeom>
          <a:solidFill>
            <a:srgbClr val="F2CE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73056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4950" y="7348538"/>
            <a:ext cx="64620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người dùng xem lại bản hiểu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8639175"/>
            <a:ext cx="686440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8105775"/>
            <a:ext cx="400050" cy="400050"/>
          </a:xfrm>
          <a:prstGeom prst="ellipse">
            <a:avLst/>
          </a:prstGeom>
          <a:solidFill>
            <a:srgbClr val="F2CED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81057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4950" y="8148638"/>
            <a:ext cx="64620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 nơi và lý do khác biệt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9439275"/>
            <a:ext cx="686440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8905875"/>
            <a:ext cx="400050" cy="400050"/>
          </a:xfrm>
          <a:prstGeom prst="ellipse">
            <a:avLst/>
          </a:prstGeom>
          <a:solidFill>
            <a:srgbClr val="F2CED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89058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4950" y="8948738"/>
            <a:ext cx="64620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xếp lịch sau khi người dùng chốt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8274100" y="3066157"/>
            <a:ext cx="9099500" cy="619125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  <a:effectLst>
            <a:outerShdw sx="100000" sy="100000" kx="0" ky="0" algn="bl" rotWithShape="0" blurRad="571500" dist="228600" dir="5400000">
              <a:srgbClr val="26302F">
                <a:alpha val="12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432" b="-4432"/>
          <a:stretch/>
        </p:blipFill>
        <p:spPr>
          <a:xfrm>
            <a:off x="8274100" y="3066157"/>
            <a:ext cx="9099500" cy="619125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540800" y="3408164"/>
            <a:ext cx="2209800" cy="476250"/>
          </a:xfrm>
          <a:prstGeom prst="roundRect">
            <a:avLst>
              <a:gd name="adj" fmla="val 50000"/>
            </a:avLst>
          </a:prstGeom>
          <a:solidFill>
            <a:srgbClr val="A83F67"/>
          </a:solidFill>
          <a:ln/>
          <a:effectLst>
            <a:outerShdw sx="100000" sy="100000" kx="0" ky="0" algn="bl" rotWithShape="0" blurRad="238125" dist="95250" dir="5400000">
              <a:srgbClr val="4B2734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683675" y="3503414"/>
            <a:ext cx="2000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vào tự nhiên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4316075" y="4636889"/>
            <a:ext cx="2828925" cy="47625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  <a:effectLst>
            <a:outerShdw sx="100000" sy="100000" kx="0" ky="0" algn="bl" rotWithShape="0" blurRad="238125" dist="95250" dir="5400000">
              <a:srgbClr val="4B2734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4458950" y="4732139"/>
            <a:ext cx="26280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 State có cấu trúc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4287500" y="8572500"/>
            <a:ext cx="2705100" cy="476250"/>
          </a:xfrm>
          <a:prstGeom prst="roundRect">
            <a:avLst>
              <a:gd name="adj" fmla="val 50000"/>
            </a:avLst>
          </a:prstGeom>
          <a:solidFill>
            <a:srgbClr val="C97710"/>
          </a:solidFill>
          <a:ln/>
          <a:effectLst>
            <a:outerShdw sx="100000" sy="100000" kx="0" ky="0" algn="bl" rotWithShape="0" blurRad="238125" dist="95250" dir="5400000">
              <a:srgbClr val="4B2734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4430375" y="8667750"/>
            <a:ext cx="25005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 xác nhận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 · CƠ CHẾ QUYẾT ĐỊNH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Trước khi xếp lịch, mỗi lựa chọn đi qua bốn lớp kiểm tra</a:t>
            </a:r>
            <a:endParaRPr lang="en-US" sz="4800" dirty="0"/>
          </a:p>
        </p:txBody>
      </p:sp>
      <p:sp>
        <p:nvSpPr>
          <p:cNvPr id="5" name="anim-s8-n0-k0"/>
          <p:cNvSpPr/>
          <p:nvPr/>
        </p:nvSpPr>
        <p:spPr>
          <a:xfrm>
            <a:off x="914400" y="2216497"/>
            <a:ext cx="3700463" cy="2764036"/>
          </a:xfrm>
          <a:prstGeom prst="roundRect">
            <a:avLst>
              <a:gd name="adj" fmla="val 7581"/>
            </a:avLst>
          </a:prstGeom>
          <a:solidFill>
            <a:srgbClr val="E2EAF5"/>
          </a:solidFill>
          <a:ln w="28575">
            <a:solidFill>
              <a:srgbClr val="345F91"/>
            </a:solidFill>
            <a:prstDash val="solid"/>
          </a:ln>
        </p:spPr>
      </p:sp>
      <p:sp>
        <p:nvSpPr>
          <p:cNvPr id="6" name="anim-s8-n0-k1"/>
          <p:cNvSpPr/>
          <p:nvPr/>
        </p:nvSpPr>
        <p:spPr>
          <a:xfrm>
            <a:off x="1171575" y="2492722"/>
            <a:ext cx="742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anim-s8-n0-k2"/>
          <p:cNvSpPr/>
          <p:nvPr/>
        </p:nvSpPr>
        <p:spPr>
          <a:xfrm>
            <a:off x="1171575" y="3016597"/>
            <a:ext cx="3281696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 State</a:t>
            </a:r>
            <a:endParaRPr lang="en-US" sz="2175" dirty="0"/>
          </a:p>
        </p:txBody>
      </p:sp>
      <p:sp>
        <p:nvSpPr>
          <p:cNvPr id="8" name="anim-s8-n0-k3"/>
          <p:cNvSpPr/>
          <p:nvPr/>
        </p:nvSpPr>
        <p:spPr>
          <a:xfrm>
            <a:off x="1171575" y="3470225"/>
            <a:ext cx="3281696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Ngày, người đi cùng, phương tiện, ngân sách, preference và hard constraint.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4863" y="2216497"/>
            <a:ext cx="628650" cy="280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anim-s8-n1-k0"/>
          <p:cNvSpPr/>
          <p:nvPr/>
        </p:nvSpPr>
        <p:spPr>
          <a:xfrm>
            <a:off x="5167313" y="2216497"/>
            <a:ext cx="3700463" cy="2764036"/>
          </a:xfrm>
          <a:prstGeom prst="roundRect">
            <a:avLst>
              <a:gd name="adj" fmla="val 7581"/>
            </a:avLst>
          </a:prstGeom>
          <a:solidFill>
            <a:srgbClr val="E2EAF5"/>
          </a:solidFill>
          <a:ln w="28575">
            <a:solidFill>
              <a:srgbClr val="345F91"/>
            </a:solidFill>
            <a:prstDash val="solid"/>
          </a:ln>
        </p:spPr>
      </p:sp>
      <p:sp>
        <p:nvSpPr>
          <p:cNvPr id="11" name="anim-s8-n1-k1"/>
          <p:cNvSpPr/>
          <p:nvPr/>
        </p:nvSpPr>
        <p:spPr>
          <a:xfrm>
            <a:off x="5424488" y="2492722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2" name="anim-s8-n1-k2"/>
          <p:cNvSpPr/>
          <p:nvPr/>
        </p:nvSpPr>
        <p:spPr>
          <a:xfrm>
            <a:off x="5424488" y="3016597"/>
            <a:ext cx="3281696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Place Intelligence</a:t>
            </a:r>
            <a:endParaRPr lang="en-US" sz="2175" dirty="0"/>
          </a:p>
        </p:txBody>
      </p:sp>
      <p:sp>
        <p:nvSpPr>
          <p:cNvPr id="13" name="anim-s8-n1-k3"/>
          <p:cNvSpPr/>
          <p:nvPr/>
        </p:nvSpPr>
        <p:spPr>
          <a:xfrm>
            <a:off x="5424488" y="3470225"/>
            <a:ext cx="328169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Fact, signal, estimate giữ nguồn, quote, freshness và trạng thái.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7775" y="2216497"/>
            <a:ext cx="628650" cy="280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anim-s8-n2-k0"/>
          <p:cNvSpPr/>
          <p:nvPr/>
        </p:nvSpPr>
        <p:spPr>
          <a:xfrm>
            <a:off x="9420225" y="2216497"/>
            <a:ext cx="3700463" cy="2764036"/>
          </a:xfrm>
          <a:prstGeom prst="roundRect">
            <a:avLst>
              <a:gd name="adj" fmla="val 7581"/>
            </a:avLst>
          </a:prstGeom>
          <a:solidFill>
            <a:srgbClr val="DCECE7"/>
          </a:solidFill>
          <a:ln w="28575">
            <a:solidFill>
              <a:srgbClr val="0F6B5C"/>
            </a:solidFill>
            <a:prstDash val="solid"/>
          </a:ln>
        </p:spPr>
      </p:sp>
      <p:sp>
        <p:nvSpPr>
          <p:cNvPr id="16" name="anim-s8-n2-k1"/>
          <p:cNvSpPr/>
          <p:nvPr/>
        </p:nvSpPr>
        <p:spPr>
          <a:xfrm>
            <a:off x="9677400" y="2492722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</a:t>
            </a:r>
            <a:endParaRPr lang="en-US" sz="1800" dirty="0"/>
          </a:p>
        </p:txBody>
      </p:sp>
      <p:sp>
        <p:nvSpPr>
          <p:cNvPr id="17" name="anim-s8-n2-k2"/>
          <p:cNvSpPr/>
          <p:nvPr/>
        </p:nvSpPr>
        <p:spPr>
          <a:xfrm>
            <a:off x="9677400" y="3016597"/>
            <a:ext cx="3281696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Place Decision</a:t>
            </a:r>
            <a:endParaRPr lang="en-US" sz="2175" dirty="0"/>
          </a:p>
        </p:txBody>
      </p:sp>
      <p:sp>
        <p:nvSpPr>
          <p:cNvPr id="18" name="anim-s8-n2-k3"/>
          <p:cNvSpPr/>
          <p:nvPr/>
        </p:nvSpPr>
        <p:spPr>
          <a:xfrm>
            <a:off x="9677400" y="3470225"/>
            <a:ext cx="328169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phù hợp, loại hard fail và giữ lý do cho từng lựa chọn.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120688" y="2216497"/>
            <a:ext cx="628650" cy="280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anim-s8-n3-k0"/>
          <p:cNvSpPr/>
          <p:nvPr/>
        </p:nvSpPr>
        <p:spPr>
          <a:xfrm>
            <a:off x="13673138" y="2216497"/>
            <a:ext cx="3700463" cy="2764036"/>
          </a:xfrm>
          <a:prstGeom prst="roundRect">
            <a:avLst>
              <a:gd name="adj" fmla="val 7581"/>
            </a:avLst>
          </a:prstGeom>
          <a:solidFill>
            <a:srgbClr val="E2EAF5"/>
          </a:solidFill>
          <a:ln w="28575">
            <a:solidFill>
              <a:srgbClr val="345F91"/>
            </a:solidFill>
            <a:prstDash val="solid"/>
          </a:ln>
        </p:spPr>
      </p:sp>
      <p:sp>
        <p:nvSpPr>
          <p:cNvPr id="21" name="anim-s8-n3-k1"/>
          <p:cNvSpPr/>
          <p:nvPr/>
        </p:nvSpPr>
        <p:spPr>
          <a:xfrm>
            <a:off x="13930313" y="2492722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2" name="anim-s8-n3-k2"/>
          <p:cNvSpPr/>
          <p:nvPr/>
        </p:nvSpPr>
        <p:spPr>
          <a:xfrm>
            <a:off x="13930313" y="3016597"/>
            <a:ext cx="3281696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Planning &amp; Validation</a:t>
            </a:r>
            <a:endParaRPr lang="en-US" sz="2175" dirty="0"/>
          </a:p>
        </p:txBody>
      </p:sp>
      <p:sp>
        <p:nvSpPr>
          <p:cNvPr id="23" name="anim-s8-n3-k3"/>
          <p:cNvSpPr/>
          <p:nvPr/>
        </p:nvSpPr>
        <p:spPr>
          <a:xfrm>
            <a:off x="13930313" y="3470225"/>
            <a:ext cx="328169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 lịch, kiểm tra thời gian/di chuyển và dừng khi không đủ điều kiện.</a:t>
            </a:r>
            <a:endParaRPr lang="en-US" sz="1800" dirty="0"/>
          </a:p>
        </p:txBody>
      </p:sp>
      <p:sp>
        <p:nvSpPr>
          <p:cNvPr id="24" name="anim-s8-n4-k0"/>
          <p:cNvSpPr/>
          <p:nvPr/>
        </p:nvSpPr>
        <p:spPr>
          <a:xfrm>
            <a:off x="914400" y="5190083"/>
            <a:ext cx="8124825" cy="937022"/>
          </a:xfrm>
          <a:prstGeom prst="roundRect">
            <a:avLst>
              <a:gd name="adj" fmla="val 18297"/>
            </a:avLst>
          </a:prstGeom>
          <a:solidFill>
            <a:srgbClr val="ECE8F8"/>
          </a:solidFill>
          <a:ln/>
        </p:spPr>
      </p:sp>
      <p:sp>
        <p:nvSpPr>
          <p:cNvPr id="25" name="anim-s8-n4-k1"/>
          <p:cNvSpPr/>
          <p:nvPr/>
        </p:nvSpPr>
        <p:spPr>
          <a:xfrm>
            <a:off x="914400" y="5190083"/>
            <a:ext cx="57150" cy="937022"/>
          </a:xfrm>
          <a:prstGeom prst="rect">
            <a:avLst/>
          </a:prstGeom>
          <a:solidFill>
            <a:srgbClr val="6854A3"/>
          </a:solidFill>
          <a:ln/>
        </p:spPr>
      </p:sp>
      <p:sp>
        <p:nvSpPr>
          <p:cNvPr id="26" name="anim-s8-n4-k2"/>
          <p:cNvSpPr/>
          <p:nvPr/>
        </p:nvSpPr>
        <p:spPr>
          <a:xfrm>
            <a:off x="1200150" y="5361533"/>
            <a:ext cx="78542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Explain </a:t>
            </a:r>
            <a:pPr algn="l" indent="0" marL="0"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lại bằng chứng và lý do của quyết định.</a:t>
            </a:r>
            <a:endParaRPr lang="en-US" sz="1200" dirty="0"/>
          </a:p>
        </p:txBody>
      </p:sp>
      <p:sp>
        <p:nvSpPr>
          <p:cNvPr id="27" name="anim-s8-n5-k0"/>
          <p:cNvSpPr/>
          <p:nvPr/>
        </p:nvSpPr>
        <p:spPr>
          <a:xfrm>
            <a:off x="9248775" y="5190083"/>
            <a:ext cx="8124825" cy="937022"/>
          </a:xfrm>
          <a:prstGeom prst="roundRect">
            <a:avLst>
              <a:gd name="adj" fmla="val 18297"/>
            </a:avLst>
          </a:prstGeom>
          <a:solidFill>
            <a:srgbClr val="F5E5C4"/>
          </a:solidFill>
          <a:ln/>
        </p:spPr>
      </p:sp>
      <p:sp>
        <p:nvSpPr>
          <p:cNvPr id="28" name="anim-s8-n5-k1"/>
          <p:cNvSpPr/>
          <p:nvPr/>
        </p:nvSpPr>
        <p:spPr>
          <a:xfrm>
            <a:off x="9248775" y="5190083"/>
            <a:ext cx="57150" cy="937022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9" name="anim-s8-n5-k2"/>
          <p:cNvSpPr/>
          <p:nvPr/>
        </p:nvSpPr>
        <p:spPr>
          <a:xfrm>
            <a:off x="9534525" y="5361533"/>
            <a:ext cx="78542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Unknown </a:t>
            </a:r>
            <a:pPr algn="l" indent="0" marL="0"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 bằng chứng vẫn là chưa biết, không tự đổi thành “đạt”.</a:t>
            </a:r>
            <a:endParaRPr lang="en-US" sz="1200" dirty="0"/>
          </a:p>
        </p:txBody>
      </p:sp>
      <p:sp>
        <p:nvSpPr>
          <p:cNvPr id="30" name="anim-s8-n6-k0"/>
          <p:cNvSpPr/>
          <p:nvPr/>
        </p:nvSpPr>
        <p:spPr>
          <a:xfrm>
            <a:off x="914400" y="6336655"/>
            <a:ext cx="5372100" cy="65901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31" name="anim-s8-n6-k1"/>
          <p:cNvSpPr/>
          <p:nvPr/>
        </p:nvSpPr>
        <p:spPr>
          <a:xfrm>
            <a:off x="1052894" y="6517630"/>
            <a:ext cx="509511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án A 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ít di chuyển</a:t>
            </a:r>
            <a:endParaRPr lang="en-US" sz="1800" dirty="0"/>
          </a:p>
        </p:txBody>
      </p:sp>
      <p:sp>
        <p:nvSpPr>
          <p:cNvPr id="32" name="anim-s8-n7-k0"/>
          <p:cNvSpPr/>
          <p:nvPr/>
        </p:nvSpPr>
        <p:spPr>
          <a:xfrm>
            <a:off x="6457950" y="6336655"/>
            <a:ext cx="5372100" cy="65901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33" name="anim-s8-n7-k1"/>
          <p:cNvSpPr/>
          <p:nvPr/>
        </p:nvSpPr>
        <p:spPr>
          <a:xfrm>
            <a:off x="6596444" y="6517630"/>
            <a:ext cx="509511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án B 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ưu tiên trải nghiệm</a:t>
            </a:r>
            <a:endParaRPr lang="en-US" sz="1800" dirty="0"/>
          </a:p>
        </p:txBody>
      </p:sp>
      <p:sp>
        <p:nvSpPr>
          <p:cNvPr id="34" name="anim-s8-n8-k0"/>
          <p:cNvSpPr/>
          <p:nvPr/>
        </p:nvSpPr>
        <p:spPr>
          <a:xfrm>
            <a:off x="12001500" y="6336655"/>
            <a:ext cx="5372100" cy="65901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35" name="anim-s8-n8-k1"/>
          <p:cNvSpPr/>
          <p:nvPr/>
        </p:nvSpPr>
        <p:spPr>
          <a:xfrm>
            <a:off x="12139994" y="6517630"/>
            <a:ext cx="509511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án C 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an toàn hơn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75946" y="9692729"/>
            <a:ext cx="7897654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đề xuất và giải thích; rule, validator và người dùng giữ quyền chốt.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 · DỮ LIỆU &amp;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Mỗi kết luận giữ nguyên loại bằng chứng và độ chắc chắn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74764"/>
            <a:ext cx="5321201" cy="5754886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8620125"/>
            <a:ext cx="5321201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874764"/>
            <a:ext cx="5321201" cy="57150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74764"/>
            <a:ext cx="9525" cy="5754886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9" name="Shape 7"/>
          <p:cNvSpPr/>
          <p:nvPr/>
        </p:nvSpPr>
        <p:spPr>
          <a:xfrm>
            <a:off x="6226076" y="2874764"/>
            <a:ext cx="9525" cy="5754886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0" name="Shape 8"/>
          <p:cNvSpPr/>
          <p:nvPr/>
        </p:nvSpPr>
        <p:spPr>
          <a:xfrm>
            <a:off x="1209675" y="3236714"/>
            <a:ext cx="800100" cy="447675"/>
          </a:xfrm>
          <a:prstGeom prst="roundRect">
            <a:avLst>
              <a:gd name="adj" fmla="val 50000"/>
            </a:avLst>
          </a:prstGeom>
          <a:solidFill>
            <a:srgbClr val="E2EAF5"/>
          </a:solidFill>
          <a:ln/>
        </p:spPr>
      </p:sp>
      <p:sp>
        <p:nvSpPr>
          <p:cNvPr id="11" name="Text 9"/>
          <p:cNvSpPr/>
          <p:nvPr/>
        </p:nvSpPr>
        <p:spPr>
          <a:xfrm>
            <a:off x="1343025" y="3312914"/>
            <a:ext cx="609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5F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9675" y="3912989"/>
            <a:ext cx="4872570" cy="435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Thông tin định danh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09675" y="4444008"/>
            <a:ext cx="487257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dụ: giờ mở cửa, địa chỉ, chính sách được gắn nguồn và thời điểm.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9675" y="7498259"/>
            <a:ext cx="4730651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5" name="Text 13"/>
          <p:cNvSpPr/>
          <p:nvPr/>
        </p:nvSpPr>
        <p:spPr>
          <a:xfrm>
            <a:off x="1209675" y="7698284"/>
            <a:ext cx="48725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hưởng: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 đã xác minh có thể quyết định pass/fail của hard constraint.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83251" y="2874764"/>
            <a:ext cx="5321350" cy="5754886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3251" y="8620125"/>
            <a:ext cx="5321350" cy="9525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3251" y="2874764"/>
            <a:ext cx="5321350" cy="5715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83251" y="2874764"/>
            <a:ext cx="9525" cy="5754886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95075" y="2874764"/>
            <a:ext cx="9525" cy="5754886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778526" y="3236714"/>
            <a:ext cx="1066800" cy="447675"/>
          </a:xfrm>
          <a:prstGeom prst="roundRect">
            <a:avLst>
              <a:gd name="adj" fmla="val 50000"/>
            </a:avLst>
          </a:prstGeom>
          <a:solidFill>
            <a:srgbClr val="DCE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911876" y="3312914"/>
            <a:ext cx="876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78526" y="3912989"/>
            <a:ext cx="4872724" cy="435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Dấu hiệu trải nghiệm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778526" y="4444008"/>
            <a:ext cx="4872724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Review, video hoặc mô tả gần đây cho biết không khí và kiểu trải nghiệm.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778526" y="7498259"/>
            <a:ext cx="473080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6" name="Text 24"/>
          <p:cNvSpPr/>
          <p:nvPr/>
        </p:nvSpPr>
        <p:spPr>
          <a:xfrm>
            <a:off x="6778526" y="7698284"/>
            <a:ext cx="487272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hưởng: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 trợ xếp hạng và giải thích; không tự ghi đè constraint.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52250" y="2874764"/>
            <a:ext cx="5321350" cy="5754886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52250" y="8620125"/>
            <a:ext cx="5321350" cy="952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52250" y="2874764"/>
            <a:ext cx="5321350" cy="57150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52250" y="2874764"/>
            <a:ext cx="9525" cy="5754886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64075" y="2874764"/>
            <a:ext cx="9525" cy="5754886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347525" y="3236714"/>
            <a:ext cx="1333500" cy="447675"/>
          </a:xfrm>
          <a:prstGeom prst="roundRect">
            <a:avLst>
              <a:gd name="adj" fmla="val 50000"/>
            </a:avLst>
          </a:prstGeom>
          <a:solidFill>
            <a:srgbClr val="F5E5C4"/>
          </a:solidFill>
          <a:ln/>
        </p:spPr>
      </p:sp>
      <p:sp>
        <p:nvSpPr>
          <p:cNvPr id="33" name="Text 31"/>
          <p:cNvSpPr/>
          <p:nvPr/>
        </p:nvSpPr>
        <p:spPr>
          <a:xfrm>
            <a:off x="12480875" y="3312914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5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ESTIMATE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47525" y="3912989"/>
            <a:ext cx="4872724" cy="435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Giá trị suy ra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2347525" y="4444008"/>
            <a:ext cx="4872724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gian, chi phí hoặc mức phù hợp được ước lượng từ dữ liệu hiện có.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2347525" y="7498259"/>
            <a:ext cx="473080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47525" y="7698284"/>
            <a:ext cx="487272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hưởng: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cho đánh đổi; phải lộ uncertainty và khả năng cần kiểm lại.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8858250"/>
            <a:ext cx="4000500" cy="590550"/>
          </a:xfrm>
          <a:prstGeom prst="roundRect">
            <a:avLst>
              <a:gd name="adj" fmla="val 22581"/>
            </a:avLst>
          </a:prstGeom>
          <a:solidFill>
            <a:srgbClr val="EEE8DF"/>
          </a:solidFill>
          <a:ln/>
        </p:spPr>
      </p:sp>
      <p:sp>
        <p:nvSpPr>
          <p:cNvPr id="39" name="Text 37"/>
          <p:cNvSpPr/>
          <p:nvPr/>
        </p:nvSpPr>
        <p:spPr>
          <a:xfrm>
            <a:off x="1025843" y="9010650"/>
            <a:ext cx="37776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Quote / evidence span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067300" y="8858250"/>
            <a:ext cx="4000500" cy="590550"/>
          </a:xfrm>
          <a:prstGeom prst="roundRect">
            <a:avLst>
              <a:gd name="adj" fmla="val 22581"/>
            </a:avLst>
          </a:prstGeom>
          <a:solidFill>
            <a:srgbClr val="EEE8DF"/>
          </a:solidFill>
          <a:ln/>
        </p:spPr>
      </p:sp>
      <p:sp>
        <p:nvSpPr>
          <p:cNvPr id="41" name="Text 39"/>
          <p:cNvSpPr/>
          <p:nvPr/>
        </p:nvSpPr>
        <p:spPr>
          <a:xfrm>
            <a:off x="5178743" y="9010650"/>
            <a:ext cx="37776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riêng theo provider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220200" y="8858250"/>
            <a:ext cx="4000500" cy="590550"/>
          </a:xfrm>
          <a:prstGeom prst="roundRect">
            <a:avLst>
              <a:gd name="adj" fmla="val 22581"/>
            </a:avLst>
          </a:prstGeom>
          <a:solidFill>
            <a:srgbClr val="EEE8DF"/>
          </a:solidFill>
          <a:ln/>
        </p:spPr>
      </p:sp>
      <p:sp>
        <p:nvSpPr>
          <p:cNvPr id="43" name="Text 41"/>
          <p:cNvSpPr/>
          <p:nvPr/>
        </p:nvSpPr>
        <p:spPr>
          <a:xfrm>
            <a:off x="9331643" y="9010650"/>
            <a:ext cx="37776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Freshness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3373100" y="8858250"/>
            <a:ext cx="4000500" cy="590550"/>
          </a:xfrm>
          <a:prstGeom prst="roundRect">
            <a:avLst>
              <a:gd name="adj" fmla="val 22581"/>
            </a:avLst>
          </a:prstGeom>
          <a:solidFill>
            <a:srgbClr val="EEE8DF"/>
          </a:solidFill>
          <a:ln/>
        </p:spPr>
      </p:sp>
      <p:sp>
        <p:nvSpPr>
          <p:cNvPr id="45" name="Text 43"/>
          <p:cNvSpPr/>
          <p:nvPr/>
        </p:nvSpPr>
        <p:spPr>
          <a:xfrm>
            <a:off x="13484543" y="9010650"/>
            <a:ext cx="37776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 gate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916734" y="9692729"/>
            <a:ext cx="845686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Place Intelligence ghi offline; luồng online chỉ đọc snapshot đã chuẩn hóa.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3F3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A8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 · TIN CẬY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DF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hiểu ngôn ngữ; rule và validator giữ ranh giới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216497"/>
            <a:ext cx="5321201" cy="2857500"/>
          </a:xfrm>
          <a:prstGeom prst="roundRect">
            <a:avLst>
              <a:gd name="adj" fmla="val 8000"/>
            </a:avLst>
          </a:prstGeom>
          <a:ln w="19050">
            <a:solidFill>
              <a:srgbClr val="FFFFFF">
                <a:alpha val="2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0150" y="2521297"/>
            <a:ext cx="489219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9FE0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00150" y="3302347"/>
            <a:ext cx="489219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D7E5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giờ ghé nằm trong giờ mở cửa đã xác minh.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00150" y="4119414"/>
            <a:ext cx="4306919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AC5C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đủ bằng chứng để cho lựa chọn đi tiếp.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83251" y="2216497"/>
            <a:ext cx="5321350" cy="2857500"/>
          </a:xfrm>
          <a:prstGeom prst="roundRect">
            <a:avLst>
              <a:gd name="adj" fmla="val 8000"/>
            </a:avLst>
          </a:prstGeom>
          <a:ln w="19050">
            <a:solidFill>
              <a:srgbClr val="FFFFFF">
                <a:alpha val="2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9001" y="2521297"/>
            <a:ext cx="489234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0AE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769001" y="3302347"/>
            <a:ext cx="489234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D7E5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 đóng lúc 17:00; sớm nhất có thể tới là 18:10.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769001" y="4119414"/>
            <a:ext cx="4199001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AC5C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 khỏi phương án chính; không để model “nới” giờ.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52250" y="2216497"/>
            <a:ext cx="5321350" cy="2857500"/>
          </a:xfrm>
          <a:prstGeom prst="roundRect">
            <a:avLst>
              <a:gd name="adj" fmla="val 8000"/>
            </a:avLst>
          </a:prstGeom>
          <a:ln w="19050">
            <a:solidFill>
              <a:srgbClr val="FFFFFF">
                <a:alpha val="23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38000" y="2521297"/>
            <a:ext cx="489234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C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UNKNOWN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338000" y="3302347"/>
            <a:ext cx="489234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D7E5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có bằng chứng giờ mở cửa còn hiệu lực.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38000" y="4119414"/>
            <a:ext cx="451294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AC5C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coi là mở; yêu cầu kiểm tra hoặc chọn phương án dự phòng.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359747"/>
            <a:ext cx="16459200" cy="1101030"/>
          </a:xfrm>
          <a:prstGeom prst="roundRect">
            <a:avLst>
              <a:gd name="adj" fmla="val 1730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10044" y="5749230"/>
            <a:ext cx="48791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D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theo vai trò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880050" y="5749230"/>
            <a:ext cx="9334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2C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04345" y="5588347"/>
            <a:ext cx="48791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FD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Extractor / Judge tạo cấu trúc và đề xuất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74351" y="5749230"/>
            <a:ext cx="9334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2C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298643" y="5588347"/>
            <a:ext cx="487931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D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Rule + validator quyết định biên an toàn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965787" y="9692729"/>
            <a:ext cx="840781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8D0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Physical constraint không có đường code nới; hard constraint fail-closed.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D0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 · KIẾN TRÚC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Kiến trúc tách tri thức địa điểm khỏi bối cảnh chuyến đi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216497"/>
            <a:ext cx="3971925" cy="3148905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355878"/>
            <a:ext cx="397192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16497"/>
            <a:ext cx="3971925" cy="5715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16497"/>
            <a:ext cx="9525" cy="314890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9" name="Shape 7"/>
          <p:cNvSpPr/>
          <p:nvPr/>
        </p:nvSpPr>
        <p:spPr>
          <a:xfrm>
            <a:off x="4876800" y="2216497"/>
            <a:ext cx="9525" cy="314890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0" name="Text 8"/>
          <p:cNvSpPr/>
          <p:nvPr/>
        </p:nvSpPr>
        <p:spPr>
          <a:xfrm>
            <a:off x="1171575" y="2540347"/>
            <a:ext cx="35613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1575" y="3026122"/>
            <a:ext cx="356130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Place Intelligence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171575" y="3479750"/>
            <a:ext cx="356130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hóa nguồn, evidence state và feature.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71575" y="4310211"/>
            <a:ext cx="345757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4" name="Text 12"/>
          <p:cNvSpPr/>
          <p:nvPr/>
        </p:nvSpPr>
        <p:spPr>
          <a:xfrm>
            <a:off x="1171575" y="4472136"/>
            <a:ext cx="356130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serving place snapshot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76825" y="2216497"/>
            <a:ext cx="3971925" cy="3148905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6825" y="5355878"/>
            <a:ext cx="3971925" cy="952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6825" y="2216497"/>
            <a:ext cx="3971925" cy="57150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6825" y="2216497"/>
            <a:ext cx="9525" cy="314890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9" name="Shape 17"/>
          <p:cNvSpPr/>
          <p:nvPr/>
        </p:nvSpPr>
        <p:spPr>
          <a:xfrm>
            <a:off x="9039225" y="2216497"/>
            <a:ext cx="9525" cy="314890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0" y="2540347"/>
            <a:ext cx="35613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34000" y="3026122"/>
            <a:ext cx="356130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 Understanding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5334000" y="3479750"/>
            <a:ext cx="356130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lời kể thành Trip State có cấu trúc.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34000" y="4310211"/>
            <a:ext cx="345757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24" name="Text 22"/>
          <p:cNvSpPr/>
          <p:nvPr/>
        </p:nvSpPr>
        <p:spPr>
          <a:xfrm>
            <a:off x="5334000" y="4472136"/>
            <a:ext cx="3561302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constraints + preferences + unknowns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39250" y="2216497"/>
            <a:ext cx="3971925" cy="3148905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9250" y="5355878"/>
            <a:ext cx="3971925" cy="9525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9250" y="2216497"/>
            <a:ext cx="3971925" cy="57150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9250" y="2216497"/>
            <a:ext cx="9525" cy="3148905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01650" y="2216497"/>
            <a:ext cx="9525" cy="3148905"/>
          </a:xfrm>
          <a:prstGeom prst="rect">
            <a:avLst/>
          </a:prstGeom>
          <a:solidFill>
            <a:srgbClr val="A83F67"/>
          </a:solidFill>
          <a:ln/>
        </p:spPr>
      </p:sp>
      <p:sp>
        <p:nvSpPr>
          <p:cNvPr id="30" name="Text 28"/>
          <p:cNvSpPr/>
          <p:nvPr/>
        </p:nvSpPr>
        <p:spPr>
          <a:xfrm>
            <a:off x="9496425" y="2540347"/>
            <a:ext cx="35613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ONLINE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96425" y="3026122"/>
            <a:ext cx="356130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Place Decision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9496425" y="3479750"/>
            <a:ext cx="356130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Shortlist, lý do, hard-fail và phương án.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96425" y="4310211"/>
            <a:ext cx="345757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34" name="Text 32"/>
          <p:cNvSpPr/>
          <p:nvPr/>
        </p:nvSpPr>
        <p:spPr>
          <a:xfrm>
            <a:off x="9496425" y="4472136"/>
            <a:ext cx="356130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decision set có evidence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401675" y="2216497"/>
            <a:ext cx="3971925" cy="3148905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01675" y="5355878"/>
            <a:ext cx="3971925" cy="952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01675" y="2216497"/>
            <a:ext cx="3971925" cy="57150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01675" y="2216497"/>
            <a:ext cx="9525" cy="314890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39" name="Shape 37"/>
          <p:cNvSpPr/>
          <p:nvPr/>
        </p:nvSpPr>
        <p:spPr>
          <a:xfrm>
            <a:off x="17364075" y="2216497"/>
            <a:ext cx="9525" cy="314890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58850" y="2540347"/>
            <a:ext cx="35613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ONLINE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658850" y="3026122"/>
            <a:ext cx="356130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Planning</a:t>
            </a:r>
            <a:endParaRPr lang="en-US" sz="2175" dirty="0"/>
          </a:p>
        </p:txBody>
      </p:sp>
      <p:sp>
        <p:nvSpPr>
          <p:cNvPr id="42" name="Text 40"/>
          <p:cNvSpPr/>
          <p:nvPr/>
        </p:nvSpPr>
        <p:spPr>
          <a:xfrm>
            <a:off x="13658850" y="3479750"/>
            <a:ext cx="356130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 lịch và validate tổ hợp đã được chốt.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658850" y="4310211"/>
            <a:ext cx="3457575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44" name="Text 42"/>
          <p:cNvSpPr/>
          <p:nvPr/>
        </p:nvSpPr>
        <p:spPr>
          <a:xfrm>
            <a:off x="13658850" y="4472136"/>
            <a:ext cx="3561302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itinerary hoặc lý do không thể xếp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14400" y="5594003"/>
            <a:ext cx="8124825" cy="1023938"/>
          </a:xfrm>
          <a:prstGeom prst="roundRect">
            <a:avLst>
              <a:gd name="adj" fmla="val 16744"/>
            </a:avLst>
          </a:prstGeom>
          <a:solidFill>
            <a:srgbClr val="DCECE7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5784503"/>
            <a:ext cx="791137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Offline ghi · online đọc: </a:t>
            </a:r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173135"/>
                </a:solidFill>
                <a:highlight>
                  <a:srgbClr val="DCECE7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địa điểm không bị sửa theo từng request.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9248775" y="5594003"/>
            <a:ext cx="8124825" cy="1023938"/>
          </a:xfrm>
          <a:prstGeom prst="roundRect">
            <a:avLst>
              <a:gd name="adj" fmla="val 16744"/>
            </a:avLst>
          </a:prstGeom>
          <a:solidFill>
            <a:srgbClr val="E2EAF5"/>
          </a:solidFill>
          <a:ln/>
        </p:spPr>
      </p:sp>
      <p:sp>
        <p:nvSpPr>
          <p:cNvPr id="48" name="Text 46"/>
          <p:cNvSpPr/>
          <p:nvPr/>
        </p:nvSpPr>
        <p:spPr>
          <a:xfrm>
            <a:off x="9477375" y="5784503"/>
            <a:ext cx="791137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Module qua public API: </a:t>
            </a:r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173135"/>
                </a:solidFill>
                <a:highlight>
                  <a:srgbClr val="E2EAF5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live context của chuyến đi chỉ tồn tại trong request/session.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E7E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 · BẰNG CHỨNG HIỆN TẠI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Bản thử nghiệm chạy trên dữ liệu địa điểm Đà Lạt và bài đo offline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74764"/>
            <a:ext cx="7583537" cy="6574036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3189089"/>
            <a:ext cx="7124291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Dữ liệu hiện có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47775" y="3742283"/>
            <a:ext cx="712429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Snapshot serving · build 08/10/2026</a:t>
            </a:r>
            <a:endParaRPr lang="en-US" sz="1800" dirty="0"/>
          </a:p>
        </p:txBody>
      </p:sp>
      <p:sp>
        <p:nvSpPr>
          <p:cNvPr id="8" name="anim-s12-n0-k0"/>
          <p:cNvSpPr/>
          <p:nvPr/>
        </p:nvSpPr>
        <p:spPr>
          <a:xfrm>
            <a:off x="1247775" y="4290864"/>
            <a:ext cx="3372594" cy="1524000"/>
          </a:xfrm>
          <a:prstGeom prst="roundRect">
            <a:avLst>
              <a:gd name="adj" fmla="val 10000"/>
            </a:avLst>
          </a:prstGeom>
          <a:solidFill>
            <a:srgbClr val="DCECE7"/>
          </a:solidFill>
          <a:ln/>
        </p:spPr>
      </p:sp>
      <p:sp>
        <p:nvSpPr>
          <p:cNvPr id="9" name="anim-s12-n0-k1"/>
          <p:cNvSpPr/>
          <p:nvPr/>
        </p:nvSpPr>
        <p:spPr>
          <a:xfrm>
            <a:off x="1457325" y="4481364"/>
            <a:ext cx="30420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1.696</a:t>
            </a:r>
            <a:endParaRPr lang="en-US" sz="3150" dirty="0"/>
          </a:p>
        </p:txBody>
      </p:sp>
      <p:sp>
        <p:nvSpPr>
          <p:cNvPr id="10" name="anim-s12-n0-k2"/>
          <p:cNvSpPr/>
          <p:nvPr/>
        </p:nvSpPr>
        <p:spPr>
          <a:xfrm>
            <a:off x="1457325" y="5110014"/>
            <a:ext cx="1066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điểm</a:t>
            </a:r>
            <a:endParaRPr lang="en-US" sz="1800" dirty="0"/>
          </a:p>
        </p:txBody>
      </p:sp>
      <p:sp>
        <p:nvSpPr>
          <p:cNvPr id="11" name="anim-s12-n1-k0"/>
          <p:cNvSpPr/>
          <p:nvPr/>
        </p:nvSpPr>
        <p:spPr>
          <a:xfrm>
            <a:off x="4791819" y="4290864"/>
            <a:ext cx="3372743" cy="1524000"/>
          </a:xfrm>
          <a:prstGeom prst="roundRect">
            <a:avLst>
              <a:gd name="adj" fmla="val 10000"/>
            </a:avLst>
          </a:prstGeom>
          <a:solidFill>
            <a:srgbClr val="DCECE7"/>
          </a:solidFill>
          <a:ln/>
        </p:spPr>
      </p:sp>
      <p:sp>
        <p:nvSpPr>
          <p:cNvPr id="12" name="anim-s12-n1-k1"/>
          <p:cNvSpPr/>
          <p:nvPr/>
        </p:nvSpPr>
        <p:spPr>
          <a:xfrm>
            <a:off x="5001369" y="4481364"/>
            <a:ext cx="30422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</a:t>
            </a:r>
            <a:endParaRPr lang="en-US" sz="3150" dirty="0"/>
          </a:p>
        </p:txBody>
      </p:sp>
      <p:sp>
        <p:nvSpPr>
          <p:cNvPr id="13" name="anim-s12-n1-k2"/>
          <p:cNvSpPr/>
          <p:nvPr/>
        </p:nvSpPr>
        <p:spPr>
          <a:xfrm>
            <a:off x="5001369" y="5110014"/>
            <a:ext cx="93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 vực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47775" y="5986314"/>
            <a:ext cx="3372594" cy="1524000"/>
          </a:xfrm>
          <a:prstGeom prst="roundRect">
            <a:avLst>
              <a:gd name="adj" fmla="val 10000"/>
            </a:avLst>
          </a:prstGeom>
          <a:solidFill>
            <a:srgbClr val="DCECE7"/>
          </a:solidFill>
          <a:ln/>
        </p:spPr>
      </p:sp>
      <p:sp>
        <p:nvSpPr>
          <p:cNvPr id="15" name="Text 13"/>
          <p:cNvSpPr/>
          <p:nvPr/>
        </p:nvSpPr>
        <p:spPr>
          <a:xfrm>
            <a:off x="1457325" y="6176814"/>
            <a:ext cx="30420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28.466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457325" y="6805464"/>
            <a:ext cx="25812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feature state VERIFIED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91819" y="5986314"/>
            <a:ext cx="3372743" cy="1524000"/>
          </a:xfrm>
          <a:prstGeom prst="roundRect">
            <a:avLst>
              <a:gd name="adj" fmla="val 10000"/>
            </a:avLst>
          </a:prstGeom>
          <a:solidFill>
            <a:srgbClr val="DCE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001369" y="6176814"/>
            <a:ext cx="30422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6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6.860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5001369" y="6805464"/>
            <a:ext cx="29432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UNCERTAIN + OUTDATED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821787" y="2874764"/>
            <a:ext cx="8551664" cy="6574036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5162" y="3189089"/>
            <a:ext cx="8121461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Bài đo offline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155162" y="3742283"/>
            <a:ext cx="812146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 Trip State mô phỏng offline · shortlist mục tiêu 8 nơi</a:t>
            </a:r>
            <a:endParaRPr lang="en-US" sz="1800" dirty="0"/>
          </a:p>
        </p:txBody>
      </p:sp>
      <p:sp>
        <p:nvSpPr>
          <p:cNvPr id="23" name="anim-s12-n2-k0"/>
          <p:cNvSpPr/>
          <p:nvPr/>
        </p:nvSpPr>
        <p:spPr>
          <a:xfrm>
            <a:off x="9155162" y="4290864"/>
            <a:ext cx="2526655" cy="1524000"/>
          </a:xfrm>
          <a:prstGeom prst="roundRect">
            <a:avLst>
              <a:gd name="adj" fmla="val 10000"/>
            </a:avLst>
          </a:prstGeom>
          <a:solidFill>
            <a:srgbClr val="F2CED8"/>
          </a:solidFill>
          <a:ln/>
        </p:spPr>
      </p:sp>
      <p:sp>
        <p:nvSpPr>
          <p:cNvPr id="24" name="anim-s12-n2-k1"/>
          <p:cNvSpPr/>
          <p:nvPr/>
        </p:nvSpPr>
        <p:spPr>
          <a:xfrm>
            <a:off x="9345662" y="4481364"/>
            <a:ext cx="222185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96,7%</a:t>
            </a:r>
            <a:endParaRPr lang="en-US" sz="2850" dirty="0"/>
          </a:p>
        </p:txBody>
      </p:sp>
      <p:sp>
        <p:nvSpPr>
          <p:cNvPr id="25" name="anim-s12-n2-k2"/>
          <p:cNvSpPr/>
          <p:nvPr/>
        </p:nvSpPr>
        <p:spPr>
          <a:xfrm>
            <a:off x="9345662" y="5052864"/>
            <a:ext cx="11334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filled rate</a:t>
            </a:r>
            <a:endParaRPr lang="en-US" sz="1800" dirty="0"/>
          </a:p>
        </p:txBody>
      </p:sp>
      <p:sp>
        <p:nvSpPr>
          <p:cNvPr id="26" name="anim-s12-n3-k0"/>
          <p:cNvSpPr/>
          <p:nvPr/>
        </p:nvSpPr>
        <p:spPr>
          <a:xfrm>
            <a:off x="11834217" y="4290864"/>
            <a:ext cx="2526655" cy="1524000"/>
          </a:xfrm>
          <a:prstGeom prst="roundRect">
            <a:avLst>
              <a:gd name="adj" fmla="val 10000"/>
            </a:avLst>
          </a:prstGeom>
          <a:solidFill>
            <a:srgbClr val="F2CED8"/>
          </a:solidFill>
          <a:ln/>
        </p:spPr>
      </p:sp>
      <p:sp>
        <p:nvSpPr>
          <p:cNvPr id="27" name="anim-s12-n3-k1"/>
          <p:cNvSpPr/>
          <p:nvPr/>
        </p:nvSpPr>
        <p:spPr>
          <a:xfrm>
            <a:off x="12024717" y="4481364"/>
            <a:ext cx="222185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2850" dirty="0"/>
          </a:p>
        </p:txBody>
      </p:sp>
      <p:sp>
        <p:nvSpPr>
          <p:cNvPr id="28" name="anim-s12-n3-k2"/>
          <p:cNvSpPr/>
          <p:nvPr/>
        </p:nvSpPr>
        <p:spPr>
          <a:xfrm>
            <a:off x="12024717" y="5052864"/>
            <a:ext cx="1600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violation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513272" y="4290864"/>
            <a:ext cx="2526804" cy="1524000"/>
          </a:xfrm>
          <a:prstGeom prst="roundRect">
            <a:avLst>
              <a:gd name="adj" fmla="val 10000"/>
            </a:avLst>
          </a:prstGeom>
          <a:solidFill>
            <a:srgbClr val="F2CED8"/>
          </a:solidFill>
          <a:ln/>
        </p:spPr>
      </p:sp>
      <p:sp>
        <p:nvSpPr>
          <p:cNvPr id="30" name="Text 28"/>
          <p:cNvSpPr/>
          <p:nvPr/>
        </p:nvSpPr>
        <p:spPr>
          <a:xfrm>
            <a:off x="14703772" y="4481364"/>
            <a:ext cx="222200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A83F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273 ms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14703772" y="5052864"/>
            <a:ext cx="17621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tối đa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55162" y="6024414"/>
            <a:ext cx="7884914" cy="959941"/>
          </a:xfrm>
          <a:prstGeom prst="roundRect">
            <a:avLst>
              <a:gd name="adj" fmla="val 15876"/>
            </a:avLst>
          </a:prstGeom>
          <a:solidFill>
            <a:srgbClr val="F5E5C4"/>
          </a:solidFill>
          <a:ln/>
        </p:spPr>
      </p:sp>
      <p:sp>
        <p:nvSpPr>
          <p:cNvPr id="33" name="Text 31"/>
          <p:cNvSpPr/>
          <p:nvPr/>
        </p:nvSpPr>
        <p:spPr>
          <a:xfrm>
            <a:off x="9345662" y="6195864"/>
            <a:ext cx="774046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6C523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hạn: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C5231"/>
                </a:solidFill>
                <a:highlight>
                  <a:srgbClr val="F5E5C4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kịch bản chưa đủ 8 nơi. Đây là pipeline evaluation trên dữ liệu serving, không phải thử nghiệm với 30 người dùng.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32918" y="9692729"/>
            <a:ext cx="77406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nội bộ: data/serving/places.json và data/decision/eval.json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 · UX /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 màn hình cho thấy người dùng kiểm soát quyết định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3094881"/>
            <a:ext cx="4954191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  <a:effectLst>
            <a:outerShdw sx="100000" sy="100000" kx="0" ky="0" algn="bl" rotWithShape="0" blurRad="428625" dist="171450" dir="5400000">
              <a:srgbClr val="26302F">
                <a:alpha val="11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6905" b="-26905"/>
          <a:stretch/>
        </p:blipFill>
        <p:spPr>
          <a:xfrm>
            <a:off x="914400" y="3094881"/>
            <a:ext cx="4954191" cy="476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0087" y="7990731"/>
            <a:ext cx="510281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Xác nhận bản hiểu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05483" y="8334524"/>
            <a:ext cx="491518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constraint trước khi hệ thống chọn nơi.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116241" y="2637681"/>
            <a:ext cx="6055370" cy="52197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  <a:effectLst>
            <a:outerShdw sx="100000" sy="100000" kx="0" ky="0" algn="bl" rotWithShape="0" blurRad="428625" dist="171450" dir="5400000">
              <a:srgbClr val="26302F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960" b="-18960"/>
          <a:stretch/>
        </p:blipFill>
        <p:spPr>
          <a:xfrm>
            <a:off x="6116241" y="2637681"/>
            <a:ext cx="6055370" cy="5219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25410" y="7990731"/>
            <a:ext cx="623703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So sánh khác biệt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6891189" y="8334524"/>
            <a:ext cx="46404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lý do và bằng chứng trước khi chốt.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2419261" y="2786360"/>
            <a:ext cx="4954339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  <a:effectLst>
            <a:outerShdw sx="100000" sy="100000" kx="0" ky="0" algn="bl" rotWithShape="0" blurRad="428625" dist="171450" dir="5400000">
              <a:srgbClr val="26302F">
                <a:alpha val="11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6902" b="-26902"/>
          <a:stretch/>
        </p:blipFill>
        <p:spPr>
          <a:xfrm>
            <a:off x="12419261" y="2786360"/>
            <a:ext cx="4954339" cy="4762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945" y="7682210"/>
            <a:ext cx="510297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Dừng khi không khả thi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2800856" y="8026003"/>
            <a:ext cx="4316730" cy="63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lấp lịch bằng một đáp án nghe hợp lý.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2990850" y="8824020"/>
            <a:ext cx="12306300" cy="624780"/>
          </a:xfrm>
          <a:prstGeom prst="roundRect">
            <a:avLst>
              <a:gd name="adj" fmla="val 24393"/>
            </a:avLst>
          </a:prstGeom>
          <a:solidFill>
            <a:srgbClr val="F5E5C4"/>
          </a:solidFill>
          <a:ln/>
        </p:spPr>
      </p:sp>
      <p:sp>
        <p:nvSpPr>
          <p:cNvPr id="18" name="Text 13"/>
          <p:cNvSpPr/>
          <p:nvPr/>
        </p:nvSpPr>
        <p:spPr>
          <a:xfrm>
            <a:off x="3034856" y="8976420"/>
            <a:ext cx="1221828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B503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Fail-closed không phải ngõ cụt: </a:t>
            </a:r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5031"/>
                </a:solidFill>
                <a:highlight>
                  <a:srgbClr val="F5E5C4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 điểm vướng → quay lại thay lựa chọn/constraint → validate lại.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 · RANH GIỚI BẰNG CHỨNG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Những gì đã chứng minh — và chưa chứng minh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216497"/>
            <a:ext cx="5308550" cy="5975003"/>
          </a:xfrm>
          <a:prstGeom prst="roundRect">
            <a:avLst>
              <a:gd name="adj" fmla="val 43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8181975"/>
            <a:ext cx="5308550" cy="9525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16497"/>
            <a:ext cx="5308550" cy="66675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16497"/>
            <a:ext cx="9525" cy="5975003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9" name="Shape 7"/>
          <p:cNvSpPr/>
          <p:nvPr/>
        </p:nvSpPr>
        <p:spPr>
          <a:xfrm>
            <a:off x="6213425" y="2216497"/>
            <a:ext cx="9525" cy="5975003"/>
          </a:xfrm>
          <a:prstGeom prst="rect">
            <a:avLst/>
          </a:prstGeom>
          <a:solidFill>
            <a:srgbClr val="CFC7BC"/>
          </a:solidFill>
          <a:ln/>
        </p:spPr>
      </p:sp>
      <p:sp>
        <p:nvSpPr>
          <p:cNvPr id="10" name="Shape 8"/>
          <p:cNvSpPr/>
          <p:nvPr/>
        </p:nvSpPr>
        <p:spPr>
          <a:xfrm>
            <a:off x="1228725" y="2607022"/>
            <a:ext cx="1752600" cy="438150"/>
          </a:xfrm>
          <a:prstGeom prst="roundRect">
            <a:avLst>
              <a:gd name="adj" fmla="val 50000"/>
            </a:avLst>
          </a:prstGeom>
          <a:solidFill>
            <a:srgbClr val="EEE8DF"/>
          </a:solidFill>
          <a:ln/>
        </p:spPr>
      </p:sp>
      <p:sp>
        <p:nvSpPr>
          <p:cNvPr id="11" name="Text 9"/>
          <p:cNvSpPr/>
          <p:nvPr/>
        </p:nvSpPr>
        <p:spPr>
          <a:xfrm>
            <a:off x="1362075" y="2683222"/>
            <a:ext cx="1562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triển khai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045172"/>
            <a:ext cx="4820297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Cơ chế sản phẩm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22070" y="3731716"/>
            <a:ext cx="4662755" cy="1345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bốn giai đoạn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Evidence state và hard constraint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Fail-closed và UI kiểm soát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489650" y="2216497"/>
            <a:ext cx="5308550" cy="5975003"/>
          </a:xfrm>
          <a:prstGeom prst="roundRect">
            <a:avLst>
              <a:gd name="adj" fmla="val 430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9650" y="8181975"/>
            <a:ext cx="5308550" cy="952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9650" y="2216497"/>
            <a:ext cx="5308550" cy="66675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9650" y="2216497"/>
            <a:ext cx="9525" cy="5975003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88676" y="2216497"/>
            <a:ext cx="9525" cy="5975003"/>
          </a:xfrm>
          <a:prstGeom prst="rect">
            <a:avLst/>
          </a:prstGeom>
          <a:solidFill>
            <a:srgbClr val="345F91"/>
          </a:solidFill>
          <a:ln/>
        </p:spPr>
      </p:sp>
      <p:sp>
        <p:nvSpPr>
          <p:cNvPr id="19" name="Shape 17"/>
          <p:cNvSpPr/>
          <p:nvPr/>
        </p:nvSpPr>
        <p:spPr>
          <a:xfrm>
            <a:off x="6803975" y="2607022"/>
            <a:ext cx="1762125" cy="438150"/>
          </a:xfrm>
          <a:prstGeom prst="roundRect">
            <a:avLst>
              <a:gd name="adj" fmla="val 50000"/>
            </a:avLst>
          </a:prstGeom>
          <a:solidFill>
            <a:srgbClr val="EEE8DF"/>
          </a:solidFill>
          <a:ln/>
        </p:spPr>
      </p:sp>
      <p:sp>
        <p:nvSpPr>
          <p:cNvPr id="20" name="Text 18"/>
          <p:cNvSpPr/>
          <p:nvPr/>
        </p:nvSpPr>
        <p:spPr>
          <a:xfrm>
            <a:off x="6937325" y="2683222"/>
            <a:ext cx="1571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đo offline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03975" y="3045172"/>
            <a:ext cx="4820297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Tính đúng kỹ thuật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6897320" y="3731716"/>
            <a:ext cx="4662755" cy="1345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 Trip State mô phỏng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 hard violation trong bài đo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Coverage còn thiếu ở một kịch bản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64901" y="2216497"/>
            <a:ext cx="5308550" cy="5975003"/>
          </a:xfrm>
          <a:prstGeom prst="roundRect">
            <a:avLst>
              <a:gd name="adj" fmla="val 4306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4901" y="8181975"/>
            <a:ext cx="5308550" cy="952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64901" y="2216497"/>
            <a:ext cx="5308550" cy="66675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64901" y="2216497"/>
            <a:ext cx="9525" cy="5975003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7" name="Shape 25"/>
          <p:cNvSpPr/>
          <p:nvPr/>
        </p:nvSpPr>
        <p:spPr>
          <a:xfrm>
            <a:off x="17363926" y="2216497"/>
            <a:ext cx="9525" cy="5975003"/>
          </a:xfrm>
          <a:prstGeom prst="rect">
            <a:avLst/>
          </a:prstGeom>
          <a:solidFill>
            <a:srgbClr val="C9771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79226" y="2607022"/>
            <a:ext cx="2266950" cy="438150"/>
          </a:xfrm>
          <a:prstGeom prst="roundRect">
            <a:avLst>
              <a:gd name="adj" fmla="val 50000"/>
            </a:avLst>
          </a:prstGeom>
          <a:solidFill>
            <a:srgbClr val="EEE8DF"/>
          </a:solidFill>
          <a:ln/>
        </p:spPr>
      </p:sp>
      <p:sp>
        <p:nvSpPr>
          <p:cNvPr id="29" name="Text 27"/>
          <p:cNvSpPr/>
          <p:nvPr/>
        </p:nvSpPr>
        <p:spPr>
          <a:xfrm>
            <a:off x="12512576" y="2683222"/>
            <a:ext cx="2076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0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chứng minh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79226" y="3045172"/>
            <a:ext cx="4820297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5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Giá trị với người dùng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12472571" y="3731716"/>
            <a:ext cx="4662755" cy="1679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tiết kiệm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 tin tưởng và khả năng hiểu lý do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Retention, conversion, tác động hành vi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400" y="8439150"/>
            <a:ext cx="16459200" cy="1009650"/>
          </a:xfrm>
          <a:prstGeom prst="roundRect">
            <a:avLst>
              <a:gd name="adj" fmla="val 16981"/>
            </a:avLst>
          </a:prstGeom>
          <a:solidFill>
            <a:srgbClr val="083F39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8629650"/>
            <a:ext cx="20764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đo tiếp theo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3371850" y="8776841"/>
            <a:ext cx="1418634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có đối chứng với người dùng thật: chất lượng shortlist, thời gian chốt và mức hiểu lời giải thích.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3F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62975" y="1986707"/>
            <a:ext cx="1162050" cy="1162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59638" y="3472607"/>
            <a:ext cx="216872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A8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TRIPGUARDIAN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929586" y="3944987"/>
            <a:ext cx="10428827" cy="1825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6900" b="1" dirty="0">
                <a:solidFill>
                  <a:srgbClr val="FFFDF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Từ hàng nghìn nơi đến</a:t>
            </a:r>
            <a:endParaRPr lang="en-US" sz="6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6900" b="1" dirty="0">
                <a:solidFill>
                  <a:srgbClr val="FFFDF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một chuyến đi có thể tin</a:t>
            </a:r>
            <a:endParaRPr lang="en-US" sz="6900" dirty="0"/>
          </a:p>
        </p:txBody>
      </p:sp>
      <p:sp>
        <p:nvSpPr>
          <p:cNvPr id="6" name="Shape 3"/>
          <p:cNvSpPr/>
          <p:nvPr/>
        </p:nvSpPr>
        <p:spPr>
          <a:xfrm>
            <a:off x="8334375" y="6037213"/>
            <a:ext cx="1619250" cy="47625"/>
          </a:xfrm>
          <a:prstGeom prst="rect">
            <a:avLst/>
          </a:prstGeom>
          <a:solidFill>
            <a:srgbClr val="F2CED8"/>
          </a:solidFill>
          <a:ln/>
        </p:spPr>
      </p:sp>
      <p:sp>
        <p:nvSpPr>
          <p:cNvPr id="7" name="Text 4"/>
          <p:cNvSpPr/>
          <p:nvPr/>
        </p:nvSpPr>
        <p:spPr>
          <a:xfrm>
            <a:off x="2276475" y="6408688"/>
            <a:ext cx="13735050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D1E2D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Chốt địa điểm bằng evidence và constraint trước khi xếp lịch — với quyền quyết định cuối vẫn thuộc về người dùng.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5720048" y="7785943"/>
            <a:ext cx="684790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A8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Mời xem demo và phản biện cơ chế quyết định.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763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0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2390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98" kern="0" dirty="0">
                <a:solidFill>
                  <a:srgbClr val="0F6B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A1 · PHỤ LỤC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6280"/>
            <a:ext cx="16678275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1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Nguồn và ranh giới so sánh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216497"/>
            <a:ext cx="8077200" cy="7232303"/>
          </a:xfrm>
          <a:prstGeom prst="roundRect">
            <a:avLst>
              <a:gd name="adj" fmla="val 3161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9675" y="2492722"/>
            <a:ext cx="7711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công khai · truy cập 09/10/2026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7305" y="2957513"/>
            <a:ext cx="7475220" cy="335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Việt Nam: dam.cnt.traveloka.com/d/01jex2fdn47hrz16k4gtwxm8ga.pdf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Maps: support.google.com/maps/answer/3184808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Traveloka: traveloka.com/en-vn/how-to/bookhotel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Wanderlog: wanderlog.com · help.wanderlog.com/.../Optimize-route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Tripadvisor AI: tripadvisor.com/AIAssistant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Mindtrip: resources.mindtrip.ai/travelers/help/traveler-faqs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Layla: layla.ai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96400" y="2216497"/>
            <a:ext cx="8077200" cy="7232303"/>
          </a:xfrm>
          <a:prstGeom prst="roundRect">
            <a:avLst>
              <a:gd name="adj" fmla="val 3161"/>
            </a:avLst>
          </a:prstGeom>
          <a:solidFill>
            <a:srgbClr val="FFFFFF"/>
          </a:solidFill>
          <a:ln w="9525">
            <a:solidFill>
              <a:srgbClr val="CFC7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91675" y="2492722"/>
            <a:ext cx="7711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nội bộ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679305" y="2957513"/>
            <a:ext cx="7475220" cy="184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 vi và bất biến: docs/Project_Context.md · docs/ARCHITECTURE.md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Snapshot địa điểm: data/serving/places.json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đo offline: data/decision/eval.json · config/eval_trips.yaml</a:t>
            </a:r>
            <a:endParaRPr lang="en-US" sz="1800" dirty="0"/>
          </a:p>
          <a:p>
            <a:pPr algn="l" marL="160020" indent="-160020">
              <a:lnSpc>
                <a:spcPct val="128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7313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 thật: web/shots/app/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91675" y="4953893"/>
            <a:ext cx="7486650" cy="1268462"/>
          </a:xfrm>
          <a:prstGeom prst="roundRect">
            <a:avLst>
              <a:gd name="adj" fmla="val 12015"/>
            </a:avLst>
          </a:prstGeom>
          <a:solidFill>
            <a:srgbClr val="F5E5C4"/>
          </a:solidFill>
          <a:ln/>
        </p:spPr>
      </p:sp>
      <p:sp>
        <p:nvSpPr>
          <p:cNvPr id="12" name="Text 10"/>
          <p:cNvSpPr/>
          <p:nvPr/>
        </p:nvSpPr>
        <p:spPr>
          <a:xfrm>
            <a:off x="9801225" y="5125343"/>
            <a:ext cx="729215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654D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 giới: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54D2F"/>
                </a:solidFill>
                <a:highlight>
                  <a:srgbClr val="F5E5C4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 liệu công khai chỉ cho phép mô tả luồng và định vị. Không suy ra cơ chế đối thủ không tồn tại; không dùng như benchmark chất lượng đối đầu.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05975"/>
            <a:ext cx="342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70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2026-10-09T05:32:45Z</dcterms:created>
  <dcterms:modified xsi:type="dcterms:W3CDTF">2026-10-09T05:32:45Z</dcterms:modified>
</cp:coreProperties>
</file>